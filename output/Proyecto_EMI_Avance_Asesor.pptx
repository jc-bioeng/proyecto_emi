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proyecto ya tiene avances de software verificables
- Qué explicar: «La propuesta sigue siendo nuestra línea base. Desde entonces se consolidó el diseño lógico y se implementaron bloques de software que puedo respaldar con pruebas. Mostraré qué está construido y qué falta demostrar físicamente». Definir RF_REAL como evidencia de lectura con hardware RFID físico autorizado.
- Qué no sobreafirmar: no presentar MVP, validación ni piloto terminados. No atribuir una fecha a la aprobación.
- Transición: «Primero ubico esos avances en la secuencia del proyecto».
- Posible pregunta: «¿Este es un resultado final?».
- Respuesta sugerida: «Es seguimiento de avance. El control vigente mantiene Diseño; pruebas formales, RF_REAL y piloto están pendientes».
- Fuente: E01/E19; P p.2; M pp.1–2.
REFERENCIAS DOCUMENTALES
| ID | Ruta desde la raíz | Versión / localización |
|---|---|---|
| P | `docs/control_local/Propuesta_Juan_Cortes_20262.pdf` | Propuesta aprobada 20262, 11 pp. |
| M | `docs/control_local/Arquitecto_Proyecto_Documento_Maestro_v1.9.2_ACTUAL.pdf` | v1.9.2, 09/09/2026, 6 pp. |
| Q | `docs/control_local/Matriz_Requisitos_Proyecto_EMI_v1.9.2_ACTUAL.pdf` | v1.9.2, 09/09/2026, 6 pp. |
| R | `docs/control_local/Registro_Decisiones_Proyecto_EMI_v1.9.2_ACTUAL.pdf` | v1.9.2, 09/09/2026, 4 pp. |
| H | `docs/soporte/Informe_Hallazgos_Operativos_AM_RFID_EMI_2026-09-09.pdf` | 09/09/2026, auxiliar, 9 pp. |
| I1 | `docs/soporte/Informe_Tecnico_Cierre_I1_Proyecto_EMI_v0.2_2026-09-06.pdf` | v0.2, 06/09/2026, 6 pp. |
| I2 | `docs/analisis/INFORME_TECNICO_I2_FUENTE_RFID_SIMULADA.md` | 07/09/2026, auxiliar |
| S | `docs/analisis/ANALISIS_SDK_CHAINWAY_U300.md` | Inspección 06–07/09/2026, auxiliar |
| X | `target/surefire-reports/TEST-*.xml` | 7 resultados locales existentes; inspección 10/09/2026, sin ejecución nueva |
| C | `src/main/java/co/emi/trazabilidad/` | Código presente al corte; archivos/hash en manifest |
| E01 | La propuesta aprobada compromete desarrollo y validación del prototipo para equipos biomédicos EMI Medellín. | P pp.2–4; M v1.9.2 p.1 | CONFIRMADA por línea base/control | NO APLICA | Sí; título formal y objetivo, sin fecha de aprobación inventada | 01,02,03 |
| E19 | P1/P2 en curso; P3, Pruebas formales, Piloto y RF_REAL pendientes; MVP no cerrado. | M v1.9.2 pp.1–2,5–6; Q p.5 §5; R pp.3–4 | CONFIRMADA estado / PENDIENTE_RF_REAL desempeño | NO APLICA | Sí como límite central | 01,02,11,13,14,15 |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significa aquí punto de control de avance o gate interno. No equivale a una fase metodológica ni a una fecha. P0 autoriza Diseño; no cierra MVP o P1. P1 exige EPC UHF RF_REAL desde hardware autorizado. P2 no autoriza piloto sin Pruebas. P3 no sustituye RF_REAL. La documentación vigente define P0 a P3; no se inventan P4 u otros puntos.
Fuente: Maestro v1.9.2, §2 / §9 · Matriz v1.9.2, §5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significa incremento: bloque técnico de implementación y comprobación. I1 e I2 no son fases completas del proyecto. Total documentado: 57 pruebas, cero fallos, errores u omitidas. I3 es el siguiente incremento por diseñar; no se da por cerrada su especificación. No se asignan números I4 o posteriores a trabajos que el control vigente no numera. La integración UHF real depende de P1 y no se acredita por simulación.
Fuente: Maestro v1.9.2, §2 / §4 / §9 · Informes de I1 e I2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RF, cuando aparece solo, significa radiofrecuencia; el prefijo RF- en la matriz significa requisito funcional. RF_REAL identifica evidencia obtenida con hardware RFID físico; SIMULACION identifica datos generados por software. AM es el sistema institucional existente de gestión de activos/mantenimiento; se mantiene la denominación documental sin inventar una expansión oficial. Must significa indispensable y Should deseable en la priorización vigente: prioridad no equivale a implementación. Los requisitos están en la Matriz; las decisiones DEC están en el Registro. Los anexos explican todos sus identificadores y estados.
Fuente: Matriz y Registro v1.9.2 · Glosario explicativo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requisitos habilitaron Diseño y dos incrementos ya están cerrados
- Qué explicar: P0 es la condición de suficiencia de requisitos para pasar a Diseño; cerró el 03/09. I1 significa el primer bloque técnico, asociación y persistencia; I2, el segundo, entrada común y simulación. El informe de cierre I1 es del 06/09; la ejecución I2 se documentó el 07/09 y su cierre se consolidó en el control del 09/09. El MVP es el producto mínimo viable completo, todavía incompleto.
- Qué no sobreafirmar: no equiparar incremento cerrado con cambio de fase formal. No llamar fecha de aprobación a fecha de entrega o firma no verificada.
- Transición: «Estos incrementos responden al mismo problema y al mismo perímetro que se aprobaron».
- Posible pregunta: «¿Por qué hay código si la fase formal sigue siendo Diseño?».
- Respuesta sugerida: «El Maestro registra simultáneamente Diseño e I1/I2 cerrados. Son materializaciones técnicas acotadas; no declaran terminadas las demás funciones ni las condiciones de pruebas y piloto».
- Fuente: E01/E03/E05/E06/E08/E19; M p.2; R p.2 DEC-013/018; I1 p.1; I2 §9.
REFERENCIAS DOCUMENTALES
| ID | Ruta desde la raíz | Versión / localización |
|---|---|---|
| P | `docs/control_local/Propuesta_Juan_Cortes_20262.pdf` | Propuesta aprobada 20262, 11 pp. |
| M | `docs/control_local/Arquitecto_Proyecto_Documento_Maestro_v1.9.2_ACTUAL.pdf` | v1.9.2, 09/09/2026, 6 pp. |
| Q | `docs/control_local/Matriz_Requisitos_Proyecto_EMI_v1.9.2_ACTUAL.pdf` | v1.9.2, 09/09/2026, 6 pp. |
| R | `docs/control_local/Registro_Decisiones_Proyecto_EMI_v1.9.2_ACTUAL.pdf` | v1.9.2, 09/09/2026, 4 pp. |
| H | `docs/soporte/Informe_Hallazgos_Operativos_AM_RFID_EMI_2026-09-09.pdf` | 09/09/2026, auxiliar, 9 pp. |
| I1 | `docs/soporte/Informe_Tecnico_Cierre_I1_Proyecto_EMI_v0.2_2026-09-06.pdf` | v0.2, 06/09/2026, 6 pp. |
| I2 | `docs/analisis/INFORME_TECNICO_I2_FUENTE_RFID_SIMULADA.md` | 07/09/2026, auxiliar |
| S | `docs/analisis/ANALISIS_SDK_CHAINWAY_U300.md` | Inspección 06–07/09/2026, auxiliar |
| X | `target/surefire-reports/TEST-*.xml` | 7 resultados locales existentes; inspección 10/09/2026, sin ejecución nueva |
| C | `src/main/java/co/emi/trazabilidad/` | Código presente al corte; archivos/hash en manifest |
| E01 | La propuesta aprobada compromete desarrollo y validación del prototipo para equipos biomédicos EMI Medellín. | P pp.2–4; M v1.9.2 p.1 | CONFIRMADA por línea base/control | NO APLICA | Sí; título formal y objetivo, sin fecha de aprobación inventada | 01,02,03 |
| E03 | Secuencia metodológica completa; pruebas físicas/piloto condicionados a hardware autorizado oportunamente. | P pp.6–9; M v1.9.2 pp.2,5 | CONFIRMADA | NO APLICA | Sí; condiciones no equivalen a cancelar piloto | 02,14 |
| E05 | P0 cerrado 03/09/2026; fase formal Diseño; Must congelados. | M v1.9.2 p.2 §2; R p.2 DEC-016/018 | CONFIRMADA | NO APLICA | Sí; no cierra MVP ni piloto | 02,05 |
| E06 | I1 cerrado; RF-001 implementado con siete flujos y tres entidades de asociación. | M v1.9.2 p.2; Q p.2 RF-001; I1 v0.2 pp.2–3; C `aplicacion/ServicioI1.java` | CONFIRMADA | SOFTWARE | Sí; historial de asociación, no de movimientos | 02,05,06,09,13 |
| E08 | I2 cerrado técnicamente: fuente común, simulador, LecturaEntradaRFID y OrigenDatos. | M v1.9.2 pp.2,5; Q pp.4–5; I2 §§2,4–8 | CONFIRMADA | SOFTWARE / SIMULACION | Sí; no cierra TEC-002 ni MVP | 02,06,10,13 |
| E19 | P1/P2 en curso; P3, Pruebas formales, Piloto y RF_REAL pendientes; MVP no cerrado. | M v1.9.2 pp.1–2,5–6; Q p.5 §5; R pp.3–4 | CONFIRMADA estado / PENDIENTE_RF_REAL desempeño | NO APLICA | Sí como límite central | 01,02,11,13,14,15 |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prototipo aborda el registro de movimientos en un único punto
- Qué explicar: la oportunidad está en vincular el movimiento físico con un registro oportuno y consultable. AM conserva inventario e historial técnico. El prototipo se limita a equipos biomédicos, RFID UHF pasivo y un único punto autorizado.
- Qué no sobreafirmar: no afirmar pérdida de equipos cuantificada, ahorro, incumplimiento normativo o ausencia de funciones en AM. No integrar AM ni incorporar RTLS/GPS, medicamentos, insumos o despliegue general.
- Transición: «La caracterización ayudó a entender qué movimientos y condiciones debería atender ese punto».
- Posible pregunta: «¿Cambió el alcance o el presupuesto después de aprobar?».
- Respuesta sugerida: «El control v1.9.2 preserva la línea base: 24 semanas y COP 43.724.342, con recursos tecnológicos condicionados y desembolso personal del estudiante $0. Es planificación, no evidencia de ejecución ni disponibilidad. No se ha autorizado integración automática AM».
- Fuente: E01/E02/E04/E12/E28; P pp.3–4,7–9; M pp.2–4; R DEC-005/008/010.
REFERENCIAS DOCUMENTALES
| ID | Ruta desde la raíz | Versión / localización |
|---|---|---|
| P | `docs/control_local/Propuesta_Juan_Cortes_20262.pdf` | Propuesta aprobada 20262, 11 pp. |
| M | `docs/control_local/Arquitecto_Proyecto_Documento_Maestro_v1.9.2_ACTUAL.pdf` | v1.9.2, 09/09/2026, 6 pp. |
| Q | `docs/control_local/Matriz_Requisitos_Proyecto_EMI_v1.9.2_ACTUAL.pdf` | v1.9.2, 09/09/2026, 6 pp. |
| R | `docs/control_local/Registro_Decisiones_Proyecto_EMI_v1.9.2_ACTUAL.pdf` | v1.9.2, 09/09/2026, 4 pp. |
| H | `docs/soporte/Informe_Hallazgos_Operativos_AM_RFID_EMI_2026-09-09.pdf` | 09/09/2026, auxiliar, 9 pp. |
| I1 | `docs/soporte/Informe_Tecnico_Cierre_I1_Proyecto_EMI_v0.2_2026-09-06.pdf` | v0.2, 06/09/2026, 6 pp. |
| I2 | `docs/analisis/INFORME_TECNICO_I2_FUENTE_RFID_SIMULADA.md` | 07/09/2026, auxiliar |
| S | `docs/analisis/ANALISIS_SDK_CHAINWAY_U300.md` | Inspección 06–07/09/2026, auxiliar |
| X | `target/surefire-reports/TEST-*.xml` | 7 resultados locales existentes; inspección 10/09/2026, sin ejecución nueva |
| C | `src/main/java/co/emi/trazabilidad/` | Código presente al corte; archivos/hash en manifest |
| E01 | La propuesta aprobada compromete desarrollo y validación del prototipo para equipos biomédicos EMI Medellín. | P pp.2–4; M v1.9.2 p.1 | CONFIRMADA por línea base/control | NO APLICA | Sí; título formal y objetivo, sin fecha de aprobación inventada | 01,02,03 |
| E02 | RFID UHF pasivo y un único punto; AM se conserva; exclusiones institucionales/RTLS/insumos. | P pp.2–3,6–7; R v1.9.2 p.2 DEC-005/007/008/012 | CONFIRMADA | NO APLICA | Sí; no sugerir integración AM aprobada | 03,12 |
| E04 | Línea base de 24 semanas y COP 43.724.342; desembolso personal $0. | P pp.7–9, tablas 1–2; Q v1.9.2 pp.2–3 AC-002/003, ECO-002; R p.2 DEC-010 | CONFIRMADA | NO APLICA | Sí como planificación, nunca ejecución/gasto/disponibilidad | 03 |
| E12 | «Ubicación Física» existe en AM; significado dinámico/actualización institucional pendientes. | H pp.2–4, figs.1–3; M v1.9.2 pp.3–4; R p.3 DEC-023 | CONFIRMADA existencia / PENDIENTE semántica | NO APLICA | Sí con ambos límites; no afirmar que AM carece de ubicación ni que ya se integra | 03,04 |
| E28 | La propuesta identifica una brecha entre movimientos físicos y registro oportuno; las entrevistas orientan el diagnóstico sin cuantificar su magnitud institucional. | P p.3, Problema a abordar; p.4, Información, lecturas y eventos | CONFIRMADA formulación de la propuesta / PRELIMINAR magnitud operativa | NO APLICA | Sí como problema delimitado; no afirmar tasa de pérdida, ahorro o incumplimiento institucional | 03,04,05 |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caracterización orientó el diseño; aún faltan rutas y roles por confirmar
- Qué explicar: separar lo aprendido inicialmente de los hallazgos posteriores de AM/remodelación. El campo Ubicación Física existe; el control corrobora ventanilla/picking. La secuencia recepción–preparación–dotación orienta el diseño, pero no confirma cada ruta ni quién inicia/confirma una sesión. Se recibió una imagen de mejor calidad; se usa como apoyo interpretativo, sin asumir escala o validación institucional.
- Qué no sobreafirmar: una mejor imagen no confirma por sí sola instalación RFID ni responsables. Farmacia como operador es preliminar. Camillas, sillas camilla, raqui, corto espinal y férula espinal conservan rutas fuera del punto o por confirmar. Los equipos instalados no se obligan a desmontarse por inferencia.
- Transición: «Estos hallazgos se traducen en necesidades concretas y refinan requisitos que ya estaban aprobados».
- Posible pregunta: «¿La nueva información obliga a repetir el diagnóstico?».
- Respuesta sugerida: «DEC-023 permite usarla para resolver decisiones de Diseño/P2 sin reabrir P0. La corroboración adicional debe ser dirigida a los bloqueos, como rutas, roles y geometría».
- Fuente: E12/E13/E14/E15/E27/E28; P p.3; M §§6.1–6.3; R p.3 DEC-023; H pp.2–7. Imagen recibida; explicación operativa adicional no recibida.
REFERENCIAS DOCUMENTALES
| ID | Ruta desde la raíz | Versión / localización |
|---|---|---|
| P | `docs/control_local/Propuesta_Juan_Cortes_20262.pdf` | Propuesta aprobada 20262, 11 pp. |
| M | `docs/control_local/Arquitecto_Proyecto_Documento_Maestro_v1.9.2_ACTUAL.pdf` | v1.9.2, 09/09/2026, 6 pp. |
| Q | `docs/control_local/Matriz_Requisitos_Proyecto_EMI_v1.9.2_ACTUAL.pdf` | v1.9.2, 09/09/2026, 6 pp. |
| R | `docs/control_local/Registro_Decisiones_Proyecto_EMI_v1.9.2_ACTUAL.pdf` | v1.9.2, 09/09/2026, 4 pp. |
| H | `docs/soporte/Informe_Hallazgos_Operativos_AM_RFID_EMI_2026-09-09.pdf` | 09/09/2026, auxiliar, 9 pp. |
| I1 | `docs/soporte/Informe_Tecnico_Cierre_I1_Proyecto_EMI_v0.2_2026-09-06.pdf` | v0.2, 06/09/2026, 6 pp. |
| I2 | `docs/analisis/INFORME_TECNICO_I2_FUENTE_RFID_SIMULADA.md` | 07/09/2026, auxiliar |
| S | `docs/analisis/ANALISIS_SDK_CHAINWAY_U300.md` | Inspección 06–07/09/2026, auxiliar |
| X | `target/surefire-reports/TEST-*.xml` | 7 resultados locales existentes; inspección 10/09/2026, sin ejecución nueva |
| C | `src/main/java/co/emi/trazabilidad/` | Código presente al corte; archivos/hash en manifest |
| E12 | «Ubicación Física» existe en AM; significado dinámico/actualización institucional pendientes. | H pp.2–4, figs.1–3; M v1.9.2 pp.3–4; R p.3 DEC-023 | CONFIRMADA existencia / PENDIENTE semántica | NO APLICA | Sí con ambos límites; no afirmar que AM carece de ubicación ni que ya se integra | 03,04 |
| E13 | Ventanilla/picking/torre RFID están corroborados según DEC-023, como insumo P2. | R v1.9.2 p.3; M p.4 §6.3; H pp.5–7 figs.4–6 | CORROBORADA según control | NO APLICA | Sí como contexto del plano; no instalación, medidas o RF validada | 04,12 |
| E14 | Mayoría de activos atravesaría área candidata; rutas de camillas, sillas camilla, raqui, corto espinal y férula espinal por confirmar. | M v1.9.2 pp.3–4 §6.1 | PRELIMINAR / PENDIENTE | NO APLICA | Solo hipótesis rotulada; no cobertura universal ni clasificación definitiva | 04,12 |
| E15 | Farmacia es candidato a operar sesiones; inicio/confirmación/corrección/contingencia y rol Biomédica pendientes. | M v1.9.2 p.4 §6.2; Q p.5 OPE-002 | PRELIMINAR / PENDIENTE | NO APLICA | Solo como pendiente, nunca responsable confirmado | 04,12,15 |
| E27 | Hallazgos AM/remodelación aceptados como insumo P2 sin reabrir P0 ni crear DEC-024. | R v1.9.2 pp.3–4 DEC-023, §§5,8–9 | CONFIRMADA | NO APLICA | Sí; no elevar recomendaciones auxiliares a decisiones | 04,05 |
| E28 | La propuesta identifica una brecha entre movimientos físicos y registro oportuno; las entrevistas orientan el diagnóstico sin cuantificar su magnitud institucional. | P p.3, Problema a abordar; p.4, Información, lecturas y eventos | CONFIRMADA formulación de la propuesta / PRELIMINAR magnitud operativa | NO APLICA | Sí como problema delimitado; no afirmar tasa de pérdida, ahorro o incumplimiento institucional | 03,04,05 |
IMAGEN APORTADA POR EL USUARIO: codex-clipboard-50e2632b-143c-4559-b9a3-ba98940e4f3e.png. Procedencia técnica/escala y fidelidad dimensional no verificadas. Apoyo interpretativo; cotejo contextual con informe AM/remodelación pp.5–7 y DEC-023. No constituye instalación ni cobertura RF demostrada. Los puntos rojos no se interpretan como antenas.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requisitos convierten necesidades del proceso en comportamientos verificables
- Qué explicar: recorrer una fila completa: vincular activo-etiqueta → RF-001 → asociación histórica → prueba de corrección y consulta. Comparar con RF-003, contexto de evento pendiente, y RF-006, contingencia manual pendiente. Las filas reconstruyen trazabilidad conceptual, no prueban una cronología causal para todos los hallazgos.
- Qué no sobreafirmar: «Aprobado» no equivale a «implementado». RF-006 conserva Should; su necesidad de diseño no altera prioridad. Los hallazgos tardíos no crean requisitos ni una DEC nueva.
- Transición: «La arquitectura asigna esas responsabilidades a componentes separados».
- Posible pregunta: «¿Qué requisito existente respalda esta funcionalidad?».
- Respuesta sugerida: «RF-001 respalda la asociación; RF-003, fecha/hora/punto/usuario-contexto/tipo de evento; RF-006, contingencia manual. La Matriz conserva sus estados, y solo RF-001 está implementado entre estos tres ejemplos».
- Fuente: E05/E06/E11/E21/E27/E28; Q p.2 y p.5; R DEC-014/015/016/023; P pp.3–6.
REFERENCIAS DOCUMENTALES
| ID | Ruta desde la raíz | Versión / localización |
|---|---|---|
| P | `docs/control_local/Propuesta_Juan_Cortes_20262.pdf` | Propuesta aprobada 20262, 11 pp. |
| M | `docs/control_local/Arquitecto_Proyecto_Documento_Maestro_v1.9.2_ACTUAL.pdf` | v1.9.2, 09/09/2026, 6 pp. |
| Q | `docs/control_local/Matriz_Requisitos_Proyecto_EMI_v1.9.2_ACTUAL.pdf` | v1.9.2, 09/09/2026, 6 pp. |
| R | `docs/control_local/Registro_Decisiones_Proyecto_EMI_v1.9.2_ACTUAL.pdf` | v1.9.2, 09/09/2026, 4 pp. |
| H | `docs/soporte/Informe_Hallazgos_Operativos_AM_RFID_EMI_2026-09-09.pdf` | 09/09/2026, auxiliar, 9 pp. |
| I1 | `docs/soporte/Informe_Tecnico_Cierre_I1_Proyecto_EMI_v0.2_2026-09-06.pdf` | v0.2, 06/09/2026, 6 pp. |
| I2 | `docs/analisis/INFORME_TECNICO_I2_FUENTE_RFID_SIMULADA.md` | 07/09/2026, auxiliar |
| S | `docs/analisis/ANALISIS_SDK_CHAINWAY_U300.md` | Inspección 06–07/09/2026, auxiliar |
| X | `target/surefire-reports/TEST-*.xml` | 7 resultados locales existentes; inspección 10/09/2026, sin ejecución nueva |
| C | `src/main/java/co/emi/trazabilidad/` | Código presente al corte; archivos/hash en manifest |
| E05 | P0 cerrado 03/09/2026; fase formal Diseño; Must congelados. | M v1.9.2 p.2 §2; R p.2 DEC-016/018 | CONFIRMADA | NO APLICA | Sí; no cierra MVP ni piloto | 02,05 |
| E06 | I1 cerrado; RF-001 implementado con siete flujos y tres entidades de asociación. | M v1.9.2 p.2; Q p.2 RF-001; I1 v0.2 pp.2–3; C `aplicacion/ServicioI1.java` | CONFIRMADA | SOFTWARE | Sí; historial de asociación, no de movimientos | 02,05,06,09,13 |
| E11 | Lectura ≠ evento ≠ verificación ≠ sustitución ≠ contingencia; evento exige contexto/deduplicación. | P p.4; M v1.9.2 pp.2–3; R p.2 DEC-014/015 | CONFIRMADA como diseño | NO APLICA | Sí como regla; motor posterior no implementado | 05,06,08 |
| E21 | Reintento y contingencia explícita; fuera de ruta no se exige RFID artificial. RF-006 Should/Aprobado. | M v1.9.2 p.3 §4.1; Q p.5 §7 | CONFIRMADA diseño | NO APLICA | Sí como diseño pendiente; no introducir valor MANUAL en OrigenDatos | 05,06,08,15 notas |
| E27 | Hallazgos AM/remodelación aceptados como insumo P2 sin reabrir P0 ni crear DEC-024. | R v1.9.2 pp.3–4 DEC-023, §§5,8–9 | CONFIRMADA | NO APLICA | Sí; no elevar recomendaciones auxiliares a decisiones | 04,05 |
| E28 | La propuesta identifica una brecha entre movimientos físicos y registro oportuno; las entrevistas orientan el diagnóstico sin cuantificar su magnitud institucional. | P p.3, Problema a abordar; p.4, Información, lecturas y eventos | CONFIRMADA formulación de la propuesta / PRELIMINAR magnitud operativa | NO APLICA | Sí como problema delimitado; no afirmar tasa de pérdida, ahorro o incumplimiento institucional | 03,04,05 |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arquitectura separa identidad, entrada de lecturas y operación
- Qué explicar: I1 conserva identidad/asociaciones; I2 entrega LecturaEntradaRFID. EPC identifica la etiqueta. Una sesión recoge el contexto de una operación. La persistencia de lecturas y la lógica operativa siguen pendientes; las líneas discontinuas expresan conexiones aún no implementadas.
- Qué no sobreafirmar: no afirmar que FuenteSimulada persiste lecturas en SQLite o genera movimientos. LecturaEntradaRFID no es LecturaRFID persistida. El mapa de responsabilidades no es un flujo completo de producción en ejecución.
- Transición: «Para materializar esta separación se eligió un stack local concreto».
- Posible pregunta: «¿Qué queda por construir si ya hay persistencia?».
- Respuesta sugerida: «La persistencia actual cubre Equipo, EtiquetaRFID y AsignacionEtiqueta. Antes del siguiente incremento deben diseñarse LecturaRFID y su relación con SesionOperacion; después siguen eventos/deduplicación, historial operativo, verificación, sustitución y contingencia».
- Fuente: E06/E08/E11/E20/E21/E25; M §§4,9; Q pp.2,4; R DEC-015/017/022; I2 §§3–4,14.
REFERENCIAS DOCUMENTALES
| ID | Ruta desde la raíz | Versión / localización |
|---|---|---|
| P | `docs/control_local/Propuesta_Juan_Cortes_20262.pdf` | Propuesta aprobada 20262, 11 pp. |
| M | `docs/control_local/Arquitecto_Proyecto_Documento_Maestro_v1.9.2_ACTUAL.pdf` | v1.9.2, 09/09/2026, 6 pp. |
| Q | `docs/control_local/Matriz_Requisitos_Proyecto_EMI_v1.9.2_ACTUAL.pdf` | v1.9.2, 09/09/2026, 6 pp. |
| R | `docs/control_local/Registro_Decisiones_Proyecto_EMI_v1.9.2_ACTUAL.pdf` | v1.9.2, 09/09/2026, 4 pp. |
| H | `docs/soporte/Informe_Hallazgos_Operativos_AM_RFID_EMI_2026-09-09.pdf` | 09/09/2026, auxiliar, 9 pp. |
| I1 | `docs/soporte/Informe_Tecnico_Cierre_I1_Proyecto_EMI_v0.2_2026-09-06.pdf` | v0.2, 06/09/2026, 6 pp. |
| I2 | `docs/analisis/INFORME_TECNICO_I2_FUENTE_RFID_SIMULADA.md` | 07/09/2026, auxiliar |
| S | `docs/analisis/ANALISIS_SDK_CHAINWAY_U300.md` | Inspección 06–07/09/2026, auxiliar |
| X | `target/surefire-reports/TEST-*.xml` | 7 resultados locales existentes; inspección 10/09/2026, sin ejecución nueva |
| C | `src/main/java/co/emi/trazabilidad/` | Código presente al corte; archivos/hash en manifest |
| E06 | I1 cerrado; RF-001 implementado con siete flujos y tres entidades de asociación. | M v1.9.2 p.2; Q p.2 RF-001; I1 v0.2 pp.2–3; C `aplicacion/ServicioI1.java` | CONFIRMADA | SOFTWARE | Sí; historial de asociación, no de movimientos | 02,05,06,09,13 |
| E08 | I2 cerrado técnicamente: fuente común, simulador, LecturaEntradaRFID y OrigenDatos. | M v1.9.2 pp.2,5; Q pp.4–5; I2 §§2,4–8 | CONFIRMADA | SOFTWARE / SIMULACION | Sí; no cierra TEC-002 ni MVP | 02,06,10,13 |
| E11 | Lectura ≠ evento ≠ verificación ≠ sustitución ≠ contingencia; evento exige contexto/deduplicación. | P p.4; M v1.9.2 pp.2–3; R p.2 DEC-014/015 | CONFIRMADA como diseño | NO APLICA | Sí como regla; motor posterior no implementado | 05,06,08 |
| E20 | Persistencia LecturaRFID y relación con SesionOperacion deben diseñarse antes de I3; componentes posteriores pendientes. | M v1.9.2 p.5 §9; R p.3 §4; I2 §14; AGENTS secuencia de incrementos | CONFIRMADA directriz | NO APLICA | Sí como trabajo futuro, no implementación | 06,14,15 |
| E21 | Reintento y contingencia explícita; fuera de ruta no se exige RFID artificial. RF-006 Should/Aprobado. | M v1.9.2 p.3 §4.1; Q p.5 §7 | CONFIRMADA diseño | NO APLICA | Sí como diseño pendiente; no introducir valor MANUAL en OrigenDatos | 05,06,08,15 notas |
| E25 | Java 21 LTS/Maven/JDBC/SQLite/Flyway/JUnit 5 es stack vigente. | R v1.9.2 p.2 DEC-022; `pom.xml` | CONFIRMADA | SOFTWARE | Sí; no Java17/Spring del checklist | 06,07,10 |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stack elegido permite desarrollar y probar el MVP local
- Qué explicar: Java 21 LTS implementa dominio y casos de uso. JDBC ejecuta SQL sobre SQLite local. Maven compila, ejecuta la construcción y empaqueta. Flyway versiona las migraciones; JUnit 5 prueba comportamientos. La evidencia I1/I2 muestra este stack en uso; no es una lista aspiracional.
- Qué no sobreafirmar: no describirlo como el único stack viable ni como arquitectura institucional definitiva. No añadir Spring, ORM, nube o base servidor. PptxGenJS produce la presentación, no forma parte del prototipo. SQLite local no demuestra idoneidad física ni ratifica por sí solo despliegue piloto.
- Transición: «Sobre esta base técnica, la regla de diseño más importante es separar lecturas y movimientos».
- Posible pregunta: «¿La elección ya estaba aprobada? ¿Por qué no Spring o una base servidor?».
- Respuesta sugerida: «DEC-022 fija Java 21/Maven/JDBC/SQLite/Flyway/JUnit 5. La implementación actual es un módulo local con SQL explícito y migraciones. No hay una necesidad trazable aprobada que exija añadir esas capas; su incorporación no puede deducirse de recomendaciones históricas».
- Fuente: E25; R p.2 DEC-022; `pom.xml`; I1 pp.3–4; adenda DEC-022 histórica solo como detalle subordinado de la decisión.
REFERENCIAS DOCUMENTALES
| ID | Ruta desde la raíz | Versión / localización |
|---|---|---|
| P | `docs/control_local/Propuesta_Juan_Cortes_20262.pdf` | Propuesta aprobada 20262, 11 pp. |
| M | `docs/control_local/Arquitecto_Proyecto_Documento_Maestro_v1.9.2_ACTUAL.pdf` | v1.9.2, 09/09/2026, 6 pp. |
| Q | `docs/control_local/Matriz_Requisitos_Proyecto_EMI_v1.9.2_ACTUAL.pdf` | v1.9.2, 09/09/2026, 6 pp. |
| R | `docs/control_local/Registro_Decisiones_Proyecto_EMI_v1.9.2_ACTUAL.pdf` | v1.9.2, 09/09/2026, 4 pp. |
| H | `docs/soporte/Informe_Hallazgos_Operativos_AM_RFID_EMI_2026-09-09.pdf` | 09/09/2026, auxiliar, 9 pp. |
| I1 | `docs/soporte/Informe_Tecnico_Cierre_I1_Proyecto_EMI_v0.2_2026-09-06.pdf` | v0.2, 06/09/2026, 6 pp. |
| I2 | `docs/analisis/INFORME_TECNICO_I2_FUENTE_RFID_SIMULADA.md` | 07/09/2026, auxiliar |
| S | `docs/analisis/ANALISIS_SDK_CHAINWAY_U300.md` | Inspección 06–07/09/2026, auxiliar |
| X | `target/surefire-reports/TEST-*.xml` | 7 resultados locales existentes; inspección 10/09/2026, sin ejecución nueva |
| C | `src/main/java/co/emi/trazabilidad/` | Código presente al corte; archivos/hash en manifest |
| E25 | Java 21 LTS/Maven/JDBC/SQLite/Flyway/JUnit 5 es stack vigente. | R v1.9.2 p.2 DEC-022; `pom.xml` | CONFIRMADA | SOFTWARE | Sí; no Java17/Spring del checklist | 06,07,10 |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Varias lecturas del mismo EPC no prueban varios movimientos
- Qué explicar: un mismo EPC puede entregarse varias veces; I2 conserva cada observación. La regla de evento, contexto y deduplicación se aplicarán después. Verificación compara esperados/detectados; sustitución registra préstamo/reemplazo temporal y cierre; contingencia conserva excepción manual.
- Qué no sobreafirmar: tres lecturas no producen hoy un evento implementado. No inventar ventana temporal ni sugerir que toda omisión inicial es falla definitiva. Una antena no determina ingreso/salida.
- Transición: «El primer bloque ya implementado resuelve la identidad que permitirá interpretar esas lecturas».
- Posible pregunta: «¿Por qué conservar duplicados si se exigen cero eventos duplicados?».
- Respuesta sugerida: «Son objetos distintos. Las lecturas repetidas son evidencia cruda; el criterio exige cero eventos duplicados almacenados. El motor que consolidará eventos sigue pendiente. Fuera de ruta habrá gestión manual explícita sin inventar lectura RFID».
- Fuente: E09/E11/E21; P p.4 y p.7; M §§4–4.1; Q VAL-003/RF-006; I2 §§6–9.
REFERENCIAS DOCUMENTALES
| ID | Ruta desde la raíz | Versión / localización |
|---|---|---|
| P | `docs/control_local/Propuesta_Juan_Cortes_20262.pdf` | Propuesta aprobada 20262, 11 pp. |
| M | `docs/control_local/Arquitecto_Proyecto_Documento_Maestro_v1.9.2_ACTUAL.pdf` | v1.9.2, 09/09/2026, 6 pp. |
| Q | `docs/control_local/Matriz_Requisitos_Proyecto_EMI_v1.9.2_ACTUAL.pdf` | v1.9.2, 09/09/2026, 6 pp. |
| R | `docs/control_local/Registro_Decisiones_Proyecto_EMI_v1.9.2_ACTUAL.pdf` | v1.9.2, 09/09/2026, 4 pp. |
| H | `docs/soporte/Informe_Hallazgos_Operativos_AM_RFID_EMI_2026-09-09.pdf` | 09/09/2026, auxiliar, 9 pp. |
| I1 | `docs/soporte/Informe_Tecnico_Cierre_I1_Proyecto_EMI_v0.2_2026-09-06.pdf` | v0.2, 06/09/2026, 6 pp. |
| I2 | `docs/analisis/INFORME_TECNICO_I2_FUENTE_RFID_SIMULADA.md` | 07/09/2026, auxiliar |
| S | `docs/analisis/ANALISIS_SDK_CHAINWAY_U300.md` | Inspección 06–07/09/2026, auxiliar |
| X | `target/surefire-reports/TEST-*.xml` | 7 resultados locales existentes; inspección 10/09/2026, sin ejecución nueva |
| C | `src/main/java/co/emi/trazabilidad/` | Código presente al corte; archivos/hash en manifest |
| E09 | Entrada preserva EPC literal, orden, repeticiones, timestamp de aplicación y origen SIMULACION. | M v1.9.2 p.2 §4; I2 §§6–9; C `infraestructura/rfid/FuenteSimulada.java` métodos emitir | CONFIRMADA | SIMULACION | Sí; sin timestamp RF ni metadata física inventada | 08,10,13 |
| E11 | Lectura ≠ evento ≠ verificación ≠ sustitución ≠ contingencia; evento exige contexto/deduplicación. | P p.4; M v1.9.2 pp.2–3; R p.2 DEC-014/015 | CONFIRMADA como diseño | NO APLICA | Sí como regla; motor posterior no implementado | 05,06,08 |
| E21 | Reintento y contingencia explícita; fuera de ruta no se exige RFID artificial. RF-006 Should/Aprobado. | M v1.9.2 p.3 §4.1; Q p.5 §7 | CONFIRMADA diseño | NO APLICA | Sí como diseño pendiente; no introducir valor MANUAL en OrigenDatos | 05,06,08,15 notas |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I1 corrige asociaciones y conserva el historial incluso ante fallos
- Qué explicar: crear equipo, crear etiqueta, asociar, consultar vigente, buscar por EPC, corregir y consultar historial son los siete flujos. Corregir cierra la relación anterior e inserta otra en la misma transacción y con un único instante UTC. La prueba de rollback provoca un fallo real de inserción después del cierre y comprueba recuperación íntegra.
- Qué no sobreafirmar: no presentar historial de movimientos. Las pruebas de concurrencia de asociación no demuestran caudal de lector real ni transacciones de eventos futuros. No convertir INACTIVA en prohibición no aprobada.
- Transición: «Una vez resuelta la asociación, el segundo incremento permite entregar lecturas de prueba».
- Posible pregunta: «¿La corrección puede dejar al equipo sin asociación si falla a mitad?».
- Respuesta sugerida: «El comportamiento documentado se protege con transacción y rollback completo; la prueba falla después del cierre y verifica que se restaura el estado anterior. Esa evidencia forma parte de las 32 pruebas I1».
- Fuente: E06/E07/E10; I1 pp.2–5; Q RF-001; `docs/desarrollo/casos_de_uso_i1.md`, evidencia técnica subordinada, no sus estados antiguos.
REFERENCIAS DOCUMENTALES
| ID | Ruta desde la raíz | Versión / localización |
|---|---|---|
| P | `docs/control_local/Propuesta_Juan_Cortes_20262.pdf` | Propuesta aprobada 20262, 11 pp. |
| M | `docs/control_local/Arquitecto_Proyecto_Documento_Maestro_v1.9.2_ACTUAL.pdf` | v1.9.2, 09/09/2026, 6 pp. |
| Q | `docs/control_local/Matriz_Requisitos_Proyecto_EMI_v1.9.2_ACTUAL.pdf` | v1.9.2, 09/09/2026, 6 pp. |
| R | `docs/control_local/Registro_Decisiones_Proyecto_EMI_v1.9.2_ACTUAL.pdf` | v1.9.2, 09/09/2026, 4 pp. |
| H | `docs/soporte/Informe_Hallazgos_Operativos_AM_RFID_EMI_2026-09-09.pdf` | 09/09/2026, auxiliar, 9 pp. |
| I1 | `docs/soporte/Informe_Tecnico_Cierre_I1_Proyecto_EMI_v0.2_2026-09-06.pdf` | v0.2, 06/09/2026, 6 pp. |
| I2 | `docs/analisis/INFORME_TECNICO_I2_FUENTE_RFID_SIMULADA.md` | 07/09/2026, auxiliar |
| S | `docs/analisis/ANALISIS_SDK_CHAINWAY_U300.md` | Inspección 06–07/09/2026, auxiliar |
| X | `target/surefire-reports/TEST-*.xml` | 7 resultados locales existentes; inspección 10/09/2026, sin ejecución nueva |
| C | `src/main/java/co/emi/trazabilidad/` | Código presente al corte; archivos/hash en manifest |
| E06 | I1 cerrado; RF-001 implementado con siete flujos y tres entidades de asociación. | M v1.9.2 p.2; Q p.2 RF-001; I1 v0.2 pp.2–3; C `aplicacion/ServicioI1.java` | CONFIRMADA | SOFTWARE | Sí; historial de asociación, no de movimientos | 02,05,06,09,13 |
| E07 | La corrección preserva historial y usa una transacción/un instante UTC; rollback y concurrencia documentados. | I1 v0.2 pp.2,4–5; I2 §9; Q v1.9.2 p.2 RF-001 | CONFIRMADA | SOFTWARE | Sí; no se extrapola a caudal de lector real | 09,13 |
| E10 | Suite documentada: 57 = 32 I1 + 25 nuevas; 0 fallos/errores/omitidas. | M v1.9.2 pp.2,5–6; Q p.4; I2 §9; X totales 22+5+2+1+7+1+19 | CONFIRMADA documental | SOFTWARE / SIMULACION | Sí, como evidencia previa; no 57 ensayos RF o 100% de cobertura | 09,10,13 |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I2 genera lecturas simuladas mediante un contrato independiente del fabricante
- Qué explicar: FuenteLecturasRFID es el contrato; FuenteSimulada lo implementa y entrega LecturaEntradaRFID con EPC, tiempo de aplicación, origen y metadata opcional. La futura fuente UHF deberá cumplir el mismo contrato. I2 conserva orden y repeticiones y no importa tipos del proveedor.
- Qué no sobreafirmar: no se ha demostrado procesamiento desde una segunda fuente. No hay persistencia de LecturaRFID ni integración U300. La metadata del simulador es vacía y no hay RSSI físico; timestamp de aplicación no equivale a instante físico de captura.
- Transición: «La fuente real exige resolver la compatibilidad que sigue abierta».
- Posible pregunta: «Si I2 está cerrado, ¿por qué TEC-002 sigue en desarrollo?».
- Respuesta sugerida: «I2 es un incremento acotado: contrato y simulador. TEC-002 requiere evidencia adicional de una segunda fuente compatible. Las 25 pruebas nuevas completan una suite de 57, pero no prueban el lector».
- Fuente: E08/E09/E10/E25; M §4; Q pp.2,4; I2 §§4–9,10–11.
REFERENCIAS DOCUMENTALES
| ID | Ruta desde la raíz | Versión / localización |
|---|---|---|
| P | `docs/control_local/Propuesta_Juan_Cortes_20262.pdf` | Propuesta aprobada 20262, 11 pp. |
| M | `docs/control_local/Arquitecto_Proyecto_Documento_Maestro_v1.9.2_ACTUAL.pdf` | v1.9.2, 09/09/2026, 6 pp. |
| Q | `docs/control_local/Matriz_Requisitos_Proyecto_EMI_v1.9.2_ACTUAL.pdf` | v1.9.2, 09/09/2026, 6 pp. |
| R | `docs/control_local/Registro_Decisiones_Proyecto_EMI_v1.9.2_ACTUAL.pdf` | v1.9.2, 09/09/2026, 4 pp. |
| H | `docs/soporte/Informe_Hallazgos_Operativos_AM_RFID_EMI_2026-09-09.pdf` | 09/09/2026, auxiliar, 9 pp. |
| I1 | `docs/soporte/Informe_Tecnico_Cierre_I1_Proyecto_EMI_v0.2_2026-09-06.pdf` | v0.2, 06/09/2026, 6 pp. |
| I2 | `docs/analisis/INFORME_TECNICO_I2_FUENTE_RFID_SIMULADA.md` | 07/09/2026, auxiliar |
| S | `docs/analisis/ANALISIS_SDK_CHAINWAY_U300.md` | Inspección 06–07/09/2026, auxiliar |
| X | `target/surefire-reports/TEST-*.xml` | 7 resultados locales existentes; inspección 10/09/2026, sin ejecución nueva |
| C | `src/main/java/co/emi/trazabilidad/` | Código presente al corte; archivos/hash en manifest |
| E08 | I2 cerrado técnicamente: fuente común, simulador, LecturaEntradaRFID y OrigenDatos. | M v1.9.2 pp.2,5; Q pp.4–5; I2 §§2,4–8 | CONFIRMADA | SOFTWARE / SIMULACION | Sí; no cierra TEC-002 ni MVP | 02,06,10,13 |
| E09 | Entrada preserva EPC literal, orden, repeticiones, timestamp de aplicación y origen SIMULACION. | M v1.9.2 p.2 §4; I2 §§6–9; C `infraestructura/rfid/FuenteSimulada.java` métodos emitir | CONFIRMADA | SIMULACION | Sí; sin timestamp RF ni metadata física inventada | 08,10,13 |
| E10 | Suite documentada: 57 = 32 I1 + 25 nuevas; 0 fallos/errores/omitidas. | M v1.9.2 pp.2,5–6; Q p.4; I2 §9; X totales 22+5+2+1+7+1+19 | CONFIRMADA documental | SOFTWARE / SIMULACION | Sí, como evidencia previa; no 57 ensayos RF o 100% de cobertura | 09,10,13 |
| E25 | Java 21 LTS/Maven/JDBC/SQLite/Flyway/JUnit 5 es stack vigente. | R v1.9.2 p.2 DEC-022; `pom.xml` | CONFIRMADA | SOFTWARE | Sí; no Java17/Spring del checklist | 06,07,10 |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SDK inspeccionado aún debe probarse con hardware UHF autorizado
- Qué explicar: P1 reúne hardware e integración UHF. SDK son las librerías del fabricante. La inspección A4 identificó rutas de conexión/inventario y límites, pero faltan prueba funcional Java 21, unidad/firmware/configuración y EPC RF_REAL reproducible. U300 es candidato provisional; R3S alternativa.
- Qué no sobreafirmar: disponibilidad por catálogo, compatibilidad funcional por bytecode, parada RF por stop/free o autorización por tener SDK. RC522 es HF y no permite leer las etiquetas UHF del proyecto.
- Transición: «Además de conseguir y probar el lector, hay que definir dónde y bajo qué operación leerá».
- Posible pregunta: «¿Puede hacerse la validación con el RC522 mientras llega el U300?».
- Respuesta sugerida: «No para RFID UHF del proyecto. DEC-019 lo excluye como lector UHF y evidencia RF_REAL. P1 cierra con un EPC UHF reproducible desde hardware autorizado y configuración/SDK funcional documentados».
- Fuente: E17/E18/E19; M §§5,7; R DEC-019/021/022; S §§1,10–12,17.
REFERENCIAS DOCUMENTALES
| ID | Ruta desde la raíz | Versión / localización |
|---|---|---|
| P | `docs/control_local/Propuesta_Juan_Cortes_20262.pdf` | Propuesta aprobada 20262, 11 pp. |
| M | `docs/control_local/Arquitecto_Proyecto_Documento_Maestro_v1.9.2_ACTUAL.pdf` | v1.9.2, 09/09/2026, 6 pp. |
| Q | `docs/control_local/Matriz_Requisitos_Proyecto_EMI_v1.9.2_ACTUAL.pdf` | v1.9.2, 09/09/2026, 6 pp. |
| R | `docs/control_local/Registro_Decisiones_Proyecto_EMI_v1.9.2_ACTUAL.pdf` | v1.9.2, 09/09/2026, 4 pp. |
| H | `docs/soporte/Informe_Hallazgos_Operativos_AM_RFID_EMI_2026-09-09.pdf` | 09/09/2026, auxiliar, 9 pp. |
| I1 | `docs/soporte/Informe_Tecnico_Cierre_I1_Proyecto_EMI_v0.2_2026-09-06.pdf` | v0.2, 06/09/2026, 6 pp. |
| I2 | `docs/analisis/INFORME_TECNICO_I2_FUENTE_RFID_SIMULADA.md` | 07/09/2026, auxiliar |
| S | `docs/analisis/ANALISIS_SDK_CHAINWAY_U300.md` | Inspección 06–07/09/2026, auxiliar |
| X | `target/surefire-reports/TEST-*.xml` | 7 resultados locales existentes; inspección 10/09/2026, sin ejecución nueva |
| C | `src/main/java/co/emi/trazabilidad/` | Código presente al corte; archivos/hash en manifest |
| E17 | SDK A4 inspeccionado estáticamente; compatibilidad funcional Java 21/unidad/firmware y RF_REAL pendientes. | M v1.9.2 p.3 §5; Q pp.4,6; S §§1,10–12,17 | CONFIRMADA inspección / PENDIENTE funcional | SOFTWARE (análisis estático) | Sí con límite; no repetir auditoría general ni afirmar adaptador operativo | 11,13 |
| E18 | U300 candidato principal provisional; R3S alternativa; RC522 excluido como UHF/RF_REAL. | M v1.9.2 p.4 §7; R p.2 DEC-019/021 | CONFIRMADA decisión de exclusión / PENDIENTE hardware | NO APLICA | Sí como estado de selección, no disponibilidad | 11 |
| E19 | P1/P2 en curso; P3, Pruebas formales, Piloto y RF_REAL pendientes; MVP no cerrado. | M v1.9.2 pp.1–2,5–6; Q p.5 §5; R pp.3–4 | CONFIRMADA estado / PENDIENTE_RF_REAL desempeño | NO APLICA | Sí como límite central | 01,02,11,13,14,15 |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de control debe delimitarse antes de congelar la configuración
- Qué explicar: P2 es la definición física y operativa del único punto. Se incorpora la imagen aportada por el usuario como apoyo interpretativo; no se recibió explicación operativa adicional. Banda y puerta con dos antenas siguen siendo hipótesis; requieren misma operación/control, límites, roles y solapamientos documentados.
- Qué no sobreafirmar: buena resolución no acredita escala, infraestructura disponible o desempeño. No asignar dirección por antena. Si la nueva imagen es una recreación didáctica, rotularla como tal y conservar las fuentes originales. En H p.7 se lee «Túnel con lectores RFID» mientras el informe usa «torre»; no resolverlo por suposición.
- Transición: «Estas condiciones delimitan qué está demostrado hoy y qué queda por medir».
- Posible pregunta: «¿Dos antenas no significan dos puntos de control?».
- Respuesta sugerida: «No basta compartir lector. P2 debe demostrar y obtener autorización para un único punto operativo con límites y contexto comunes. Si eso no se demuestra, la configuración no puede presentarse como piloto autorizado de dos puntos».
- Fuente: E02/E13/E14/E15/E16/E22; M §§6.1–6.3,9.1; Q §7; R §8. H p.7 como antecedente; imagen recibida; explicación adicional pendiente.
REFERENCIAS DOCUMENTALES
| ID | Ruta desde la raíz | Versión / localización |
|---|---|---|
| P | `docs/control_local/Propuesta_Juan_Cortes_20262.pdf` | Propuesta aprobada 20262, 11 pp. |
| M | `docs/control_local/Arquitecto_Proyecto_Documento_Maestro_v1.9.2_ACTUAL.pdf` | v1.9.2, 09/09/2026, 6 pp. |
| Q | `docs/control_local/Matriz_Requisitos_Proyecto_EMI_v1.9.2_ACTUAL.pdf` | v1.9.2, 09/09/2026, 6 pp. |
| R | `docs/control_local/Registro_Decisiones_Proyecto_EMI_v1.9.2_ACTUAL.pdf` | v1.9.2, 09/09/2026, 4 pp. |
| H | `docs/soporte/Informe_Hallazgos_Operativos_AM_RFID_EMI_2026-09-09.pdf` | 09/09/2026, auxiliar, 9 pp. |
| I1 | `docs/soporte/Informe_Tecnico_Cierre_I1_Proyecto_EMI_v0.2_2026-09-06.pdf` | v0.2, 06/09/2026, 6 pp. |
| I2 | `docs/analisis/INFORME_TECNICO_I2_FUENTE_RFID_SIMULADA.md` | 07/09/2026, auxiliar |
| S | `docs/analisis/ANALISIS_SDK_CHAINWAY_U300.md` | Inspección 06–07/09/2026, auxiliar |
| X | `target/surefire-reports/TEST-*.xml` | 7 resultados locales existentes; inspección 10/09/2026, sin ejecución nueva |
| C | `src/main/java/co/emi/trazabilidad/` | Código presente al corte; archivos/hash en manifest |
| E02 | RFID UHF pasivo y un único punto; AM se conserva; exclusiones institucionales/RTLS/insumos. | P pp.2–3,6–7; R v1.9.2 p.2 DEC-005/007/008/012 | CONFIRMADA | NO APLICA | Sí; no sugerir integración AM aprobada | 03,12 |
| E13 | Ventanilla/picking/torre RFID están corroborados según DEC-023, como insumo P2. | R v1.9.2 p.3; M p.4 §6.3; H pp.5–7 figs.4–6 | CORROBORADA según control | NO APLICA | Sí como contexto del plano; no instalación, medidas o RF validada | 04,12 |
| E14 | Mayoría de activos atravesaría área candidata; rutas de camillas, sillas camilla, raqui, corto espinal y férula espinal por confirmar. | M v1.9.2 pp.3–4 §6.1 | PRELIMINAR / PENDIENTE | NO APLICA | Solo hipótesis rotulada; no cobertura universal ni clasificación definitiva | 04,12 |
| E15 | Farmacia es candidato a operar sesiones; inicio/confirmación/corrección/contingencia y rol Biomédica pendientes. | M v1.9.2 p.4 §6.2; Q p.5 OPE-002 | PRELIMINAR / PENDIENTE | NO APLICA | Solo como pendiente, nunca responsable confirmado | 04,12,15 |
| E16 | Banda + puerta con dos antenas es hipótesis sujeta a un único punto operativo autorizado; antena no determina dirección. | M v1.9.2 p.4 §6.2; Q p.5 §7; R p.4 §8 | PENDIENTE | NO APLICA | Sí como condición; no configuración aprobada ni RF_REAL | 12 |
| E22 | Geometría y modelo RF teórico no acreditan desempeño físico; P2 exige plano/fichas y prepruebas. | M v1.9.2 p.5 §9.1; Q pp.5–6 §7 | CONFIRMADA regla / PENDIENTE_RF_REAL desempeño | NO APLICA | Sí; no dibujar cobertura validada | 12,13,14 |
IMAGEN APORTADA POR EL USUARIO: codex-clipboard-50e2632b-143c-4559-b9a3-ba98940e4f3e.png. Procedencia técnica/escala y fidelidad dimensional no verificadas. Apoyo interpretativo; cotejo contextual con informe AM/remodelación pp.5–7 y DEC-023. No constituye instalación ni cobertura RF demostrada. Los puntos rojos no se interpretan como antenas.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evidencia demuestra software; el desempeño físico sigue pendiente
- Qué explicar: recorrer primero lo demostrado y después cada grupo pendiente. La suite documentada reúne 32 pruebas I1 + 25 nuevas I2 = 57, sin fallos, errores u omitidas. Lo pendiente incluye EPC RF_REAL, desempeño físico, omisiones, externas, interferencia, materiales, arquitectura física, P3, pruebas físicas y piloto. P3 es la definición de criterios de aceptación tras prepruebas.
- Qué no sobreafirmar: no decir 89 pruebas ni 57 pruebas físicas; no declarar 100% de lectura o cobertura de código. Tampoco cero eventos duplicados logrado, ya que el motor es futuro. Estos resultados son evidencia previa, no una ejecución nueva durante la preparación editorial.
- Transición: «La ruta siguiente busca producir precisamente la evidencia del lado pendiente».
- Posible pregunta: «¿Qué conclusión de viabilidad puede defender ahora?».
- Respuesta sugerida: «La evidencia respalda funcionamiento de los incrementos de asociación y entrada simulada. No permite concluir desempeño RFID físico ni viabilidad operativa del piloto; eso exige ensayos y condiciones todavía pendientes».
- Fuente: E06/E07/E08/E09/E10/E17/E19/E22/E23; M pp.2–5; Q pp.3–5; I2 §9.
REFERENCIAS DOCUMENTALES
| ID | Ruta desde la raíz | Versión / localización |
|---|---|---|
| P | `docs/control_local/Propuesta_Juan_Cortes_20262.pdf` | Propuesta aprobada 20262, 11 pp. |
| M | `docs/control_local/Arquitecto_Proyecto_Documento_Maestro_v1.9.2_ACTUAL.pdf` | v1.9.2, 09/09/2026, 6 pp. |
| Q | `docs/control_local/Matriz_Requisitos_Proyecto_EMI_v1.9.2_ACTUAL.pdf` | v1.9.2, 09/09/2026, 6 pp. |
| R | `docs/control_local/Registro_Decisiones_Proyecto_EMI_v1.9.2_ACTUAL.pdf` | v1.9.2, 09/09/2026, 4 pp. |
| H | `docs/soporte/Informe_Hallazgos_Operativos_AM_RFID_EMI_2026-09-09.pdf` | 09/09/2026, auxiliar, 9 pp. |
| I1 | `docs/soporte/Informe_Tecnico_Cierre_I1_Proyecto_EMI_v0.2_2026-09-06.pdf` | v0.2, 06/09/2026, 6 pp. |
| I2 | `docs/analisis/INFORME_TECNICO_I2_FUENTE_RFID_SIMULADA.md` | 07/09/2026, auxiliar |
| S | `docs/analisis/ANALISIS_SDK_CHAINWAY_U300.md` | Inspección 06–07/09/2026, auxiliar |
| X | `target/surefire-reports/TEST-*.xml` | 7 resultados locales existentes; inspección 10/09/2026, sin ejecución nueva |
| C | `src/main/java/co/emi/trazabilidad/` | Código presente al corte; archivos/hash en manifest |
| E06 | I1 cerrado; RF-001 implementado con siete flujos y tres entidades de asociación. | M v1.9.2 p.2; Q p.2 RF-001; I1 v0.2 pp.2–3; C `aplicacion/ServicioI1.java` | CONFIRMADA | SOFTWARE | Sí; historial de asociación, no de movimientos | 02,05,06,09,13 |
| E07 | La corrección preserva historial y usa una transacción/un instante UTC; rollback y concurrencia documentados. | I1 v0.2 pp.2,4–5; I2 §9; Q v1.9.2 p.2 RF-001 | CONFIRMADA | SOFTWARE | Sí; no se extrapola a caudal de lector real | 09,13 |
| E08 | I2 cerrado técnicamente: fuente común, simulador, LecturaEntradaRFID y OrigenDatos. | M v1.9.2 pp.2,5; Q pp.4–5; I2 §§2,4–8 | CONFIRMADA | SOFTWARE / SIMULACION | Sí; no cierra TEC-002 ni MVP | 02,06,10,13 |
| E09 | Entrada preserva EPC literal, orden, repeticiones, timestamp de aplicación y origen SIMULACION. | M v1.9.2 p.2 §4; I2 §§6–9; C `infraestructura/rfid/FuenteSimulada.java` métodos emitir | CONFIRMADA | SIMULACION | Sí; sin timestamp RF ni metadata física inventada | 08,10,13 |
| E10 | Suite documentada: 57 = 32 I1 + 25 nuevas; 0 fallos/errores/omitidas. | M v1.9.2 pp.2,5–6; Q p.4; I2 §9; X totales 22+5+2+1+7+1+19 | CONFIRMADA documental | SOFTWARE / SIMULACION | Sí, como evidencia previa; no 57 ensayos RF o 100% de cobertura | 09,10,13 |
| E17 | SDK A4 inspeccionado estáticamente; compatibilidad funcional Java 21/unidad/firmware y RF_REAL pendientes. | M v1.9.2 p.3 §5; Q pp.4,6; S §§1,10–12,17 | CONFIRMADA inspección / PENDIENTE funcional | SOFTWARE (análisis estático) | Sí con límite; no repetir auditoría general ni afirmar adaptador operativo | 11,13 |
| E19 | P1/P2 en curso; P3, Pruebas formales, Piloto y RF_REAL pendientes; MVP no cerrado. | M v1.9.2 pp.1–2,5–6; Q p.5 §5; R pp.3–4 | CONFIRMADA estado / PENDIENTE_RF_REAL desempeño | NO APLICA | Sí como límite central | 01,02,11,13,14,15 |
| E22 | Geometría y modelo RF teórico no acreditan desempeño físico; P2 exige plano/fichas y prepruebas. | M v1.9.2 p.5 §9.1; Q pp.5–6 §7 | CONFIRMADA regla / PENDIENTE_RF_REAL desempeño | NO APLICA | Sí; no dibujar cobertura validada | 12,13,14 |
| E23 | ≥10 repeticiones por escenario prioritario, verdad de terreno y cero eventos duplicados; metas RF/tiempo después de prepruebas. | P pp.5–7; Q v1.9.2 p.3 VAL-003/004/005 | CONFIRMADA criterio | NO APLICA | Sí como criterios futuros, no resultados | 13,14 |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piloto requiere completar el MVP y pasar por pruebas controladas
- Qué explicar: diseñar LecturaRFID–SesionOperacion antes de I3. Después: persistencia de lectura → sesión → eventos/deduplicación → historial operativo → verificación → sustitución → contingencia; adaptador cuando P1 lo habilite. P1/P2 avanzan coordinadamente; prepruebas permiten fijar P3; Pruebas precede al Piloto y luego viene Validación.
- Qué no sobreafirmar: no inventar porcentajes/meta RF o fechas. ≥10 repeticiones y cero eventos duplicados son criterios, no resultados actuales. Prepruebas no sustituyen pruebas formales y hardware pendiente no obliga a detener desarrollo lógico.
- Transición: «Para avanzar en esa ruta, propongo concentrar el acompañamiento en tres productos concretos».
- Posible pregunta: «¿Cómo evitar conclusiones basadas en una muestra insuficiente?».
- Respuesta sugerida: «La propuesta prevé muestra intencional por material/geometría/condición, ≥10 repeticiones por escenario prioritario y verdad de terreno. El piloto busca ≥2 perfiles, ≥20 eventos y ≥3 sesiones, con ajustes justificados antes de iniciar si existen restricciones. La conclusión se limita a la configuración ensayada; no hay inferencia institucional».
- Fuente: E03/E19/E20/E22/E23/E24/E26; P pp.5–9; M §9; Q VAL-003 a VAL-006 y §5.
REFERENCIAS DOCUMENTALES
| ID | Ruta desde la raíz | Versión / localización |
|---|---|---|
| P | `docs/control_local/Propuesta_Juan_Cortes_20262.pdf` | Propuesta aprobada 20262, 11 pp. |
| M | `docs/control_local/Arquitecto_Proyecto_Documento_Maestro_v1.9.2_ACTUAL.pdf` | v1.9.2, 09/09/2026, 6 pp. |
| Q | `docs/control_local/Matriz_Requisitos_Proyecto_EMI_v1.9.2_ACTUAL.pdf` | v1.9.2, 09/09/2026, 6 pp. |
| R | `docs/control_local/Registro_Decisiones_Proyecto_EMI_v1.9.2_ACTUAL.pdf` | v1.9.2, 09/09/2026, 4 pp. |
| H | `docs/soporte/Informe_Hallazgos_Operativos_AM_RFID_EMI_2026-09-09.pdf` | 09/09/2026, auxiliar, 9 pp. |
| I1 | `docs/soporte/Informe_Tecnico_Cierre_I1_Proyecto_EMI_v0.2_2026-09-06.pdf` | v0.2, 06/09/2026, 6 pp. |
| I2 | `docs/analisis/INFORME_TECNICO_I2_FUENTE_RFID_SIMULADA.md` | 07/09/2026, auxiliar |
| S | `docs/analisis/ANALISIS_SDK_CHAINWAY_U300.md` | Inspección 06–07/09/2026, auxiliar |
| X | `target/surefire-reports/TEST-*.xml` | 7 resultados locales existentes; inspección 10/09/2026, sin ejecución nueva |
| C | `src/main/java/co/emi/trazabilidad/` | Código presente al corte; archivos/hash en manifest |
| E03 | Secuencia metodológica completa; pruebas físicas/piloto condicionados a hardware autorizado oportunamente. | P pp.6–9; M v1.9.2 pp.2,5 | CONFIRMADA | NO APLICA | Sí; condiciones no equivalen a cancelar piloto | 02,14 |
| E19 | P1/P2 en curso; P3, Pruebas formales, Piloto y RF_REAL pendientes; MVP no cerrado. | M v1.9.2 pp.1–2,5–6; Q p.5 §5; R pp.3–4 | CONFIRMADA estado / PENDIENTE_RF_REAL desempeño | NO APLICA | Sí como límite central | 01,02,11,13,14,15 |
| E20 | Persistencia LecturaRFID y relación con SesionOperacion deben diseñarse antes de I3; componentes posteriores pendientes. | M v1.9.2 p.5 §9; R p.3 §4; I2 §14; AGENTS secuencia de incrementos | CONFIRMADA directriz | NO APLICA | Sí como trabajo futuro, no implementación | 06,14,15 |
| E22 | Geometría y modelo RF teórico no acreditan desempeño físico; P2 exige plano/fichas y prepruebas. | M v1.9.2 p.5 §9.1; Q pp.5–6 §7 | CONFIRMADA regla / PENDIENTE_RF_REAL desempeño | NO APLICA | Sí; no dibujar cobertura validada | 12,13,14 |
| E23 | ≥10 repeticiones por escenario prioritario, verdad de terreno y cero eventos duplicados; metas RF/tiempo después de prepruebas. | P pp.5–7; Q v1.9.2 p.3 VAL-003/004/005 | CONFIRMADA criterio | NO APLICA | Sí como criterios futuros, no resultados | 13,14 |
| E24 | Piloto busca ≥2 perfiles, ≥20 eventos, ≥3 sesiones; ajustes justificados antes de iniciar por restricciones. | P p.5; Q v1.9.2 p.3 VAL-006 Should/Aprobado | CONFIRMADA meta condicionada | NO APLICA | Sí con condición; no garantía ni ejecución | 14 |
| E26 | Validación final técnica, operativa y económica; conclusión favorable, condicionada o no favorable según evidencia. | P pp.6,9 | CONFIRMADA metodología | NO APLICA | Sí; no anticipar resultado ni beneficio cuantificado | 14,15 |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red se lee de izquierda a derecha. P0 representa la base suficiente de requisitos para Diseño, ya cerrada. La bifurcación muestra dos frentes de preparación: el software, con I1/I2 cerrados y el diseño dirigido de I3 y funciones restantes del MVP pendientes; y las condiciones físicas P1/P2, todavía en curso. La rama física conduce a prepruebas y P3, que fija umbrales después de prepruebas. Ambas condiciones confluyen antes de las pruebas controladas, seguidas de piloto único y validación. El ramal no obliga a esperar al cierre completo de software para trabajar en hardware ni representa una fecha de comienzo del frente físico. Diseño → MVP → Pruebas → Piloto → Validación es la secuencia formal; la fase vigente sigue siendo Diseño. Requisitos funcionales: asociación, captura, contexto/eventos, historial, verificación, sustitución y contingencia; requisitos técnicos/datos: fuente común, hardware, persistencia y separación lectura-evento; validación/operación: criterios, verdad de terreno y punto autorizado. Los nodos agregan tareas para dar una vista general, no fijan nuevas precedencias de detalle. PERT es una técnica de evaluación y revisión de programas; CPM es el método del camino crítico. Esta lámina adopta la representación por dependencias y no calcula PERT probabilístico, duraciones, holguras ni camino crítico: faltan estimaciones de actividades y precedencias detalladas validadas. No atribuir criticidad matemática al color. Fuente: Maestro v1.9.2 §§2/9; Matriz v1.9.2 §§2/5 y Propuesta, secuencia metodológica.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siguiente paso es completar el diseño y concretar condiciones de validación
- Qué explicar: proponer revisión de diseño I3, acompañamiento para confirmar responsables/condiciones P1/P2 y revisión del protocolo cuando existan prepruebas. La validación final será técnica, operativa y económica y puede ser favorable, condicionada o no favorable.
- Qué no sobreafirmar: no solicitar una nueva aprobación general de la propuesta ni atribuir permisos de EMI al asesor universitario. No comprometer compras personales, fechas o un resultado favorable. Contingencia sigue diseño pendiente y conserva datos de equipo, actor, tiempo, contexto, motivo y origen manual explícito.
- Transición/cierre: «Hay una base de software comprobada y un camino definido para producir la evidencia física y operativa que falta». Abrir discusión sobre esos productos.
- Posible pregunta: «¿Qué necesita concretamente de mí?».
- Respuesta sugerida: «Revisar la coherencia del diseño LecturaRFID–SesionOperacion, orientar la coordinación de condiciones y responsables para P1/P2, y revisar el protocolo/criterios con las prepruebas disponibles. Son propuestas para esta reunión; las autorizaciones institucionales siguen su propio proceso».
- Fuente: E15/E19/E20/E26; M §9; P pp.6,9; E21 para contingencia.
REFERENCIAS DOCUMENTALES
| ID | Ruta desde la raíz | Versión / localización |
|---|---|---|
| P | `docs/control_local/Propuesta_Juan_Cortes_20262.pdf` | Propuesta aprobada 20262, 11 pp. |
| M | `docs/control_local/Arquitecto_Proyecto_Documento_Maestro_v1.9.2_ACTUAL.pdf` | v1.9.2, 09/09/2026, 6 pp. |
| Q | `docs/control_local/Matriz_Requisitos_Proyecto_EMI_v1.9.2_ACTUAL.pdf` | v1.9.2, 09/09/2026, 6 pp. |
| R | `docs/control_local/Registro_Decisiones_Proyecto_EMI_v1.9.2_ACTUAL.pdf` | v1.9.2, 09/09/2026, 4 pp. |
| H | `docs/soporte/Informe_Hallazgos_Operativos_AM_RFID_EMI_2026-09-09.pdf` | 09/09/2026, auxiliar, 9 pp. |
| I1 | `docs/soporte/Informe_Tecnico_Cierre_I1_Proyecto_EMI_v0.2_2026-09-06.pdf` | v0.2, 06/09/2026, 6 pp. |
| I2 | `docs/analisis/INFORME_TECNICO_I2_FUENTE_RFID_SIMULADA.md` | 07/09/2026, auxiliar |
| S | `docs/analisis/ANALISIS_SDK_CHAINWAY_U300.md` | Inspección 06–07/09/2026, auxiliar |
| X | `target/surefire-reports/TEST-*.xml` | 7 resultados locales existentes; inspección 10/09/2026, sin ejecución nueva |
| C | `src/main/java/co/emi/trazabilidad/` | Código presente al corte; archivos/hash en manifest |
| E15 | Farmacia es candidato a operar sesiones; inicio/confirmación/corrección/contingencia y rol Biomédica pendientes. | M v1.9.2 p.4 §6.2; Q p.5 OPE-002 | PRELIMINAR / PENDIENTE | NO APLICA | Solo como pendiente, nunca responsable confirmado | 04,12,15 |
| E19 | P1/P2 en curso; P3, Pruebas formales, Piloto y RF_REAL pendientes; MVP no cerrado. | M v1.9.2 pp.1–2,5–6; Q p.5 §5; R pp.3–4 | CONFIRMADA estado / PENDIENTE_RF_REAL desempeño | NO APLICA | Sí como límite central | 01,02,11,13,14,15 |
| E20 | Persistencia LecturaRFID y relación con SesionOperacion deben diseñarse antes de I3; componentes posteriores pendientes. | M v1.9.2 p.5 §9; R p.3 §4; I2 §14; AGENTS secuencia de incrementos | CONFIRMADA directriz | NO APLICA | Sí como trabajo futuro, no implementación | 06,14,15 |
| E21 | Reintento y contingencia explícita; fuera de ruta no se exige RFID artificial. RF-006 Should/Aprobado. | M v1.9.2 p.3 §4.1; Q p.5 §7 | CONFIRMADA diseño | NO APLICA | Sí como diseño pendiente; no introducir valor MANUAL en OrigenDatos | 05,06,08,15 notas |
| E26 | Validación final técnica, operativa y económica; conclusión favorable, condicionada o no favorable según evidencia. | P pp.6,9 | CONFIRMADA metodología | NO APLICA | Sí; no anticipar resultado ni beneficio cuantificado | 14,15 |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 significa decisión del Registro. Son resúmenes explicativos del índice compacto vigente; prevalecen el texto y las condiciones del Registro. Aprobada no significa ejecutada. DEC-002 y DEC-004 fueron reemplazadas, respectivamente, por DEC-007 y DEC-008. El presupuesto es la línea base, no gasto realizado. DEC-023 no aprueba otra arquitectura, otro punto ni integración AM.
Fuente: Registro de Decisiones v1.9.2, p.2 · Consulta: 1–5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 significa decisión del Registro. Son resúmenes explicativos del índice compacto vigente; prevalecen el texto y las condiciones del Registro. Aprobada no significa ejecutada. DEC-002 y DEC-004 fueron reemplazadas, respectivamente, por DEC-007 y DEC-008. El presupuesto es la línea base, no gasto realizado. DEC-023 no aprueba otra arquitectura, otro punto ni integración AM.
Fuente: Registro de Decisiones v1.9.2, p.2 · Consulta: 6–10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 significa decisión del Registro. Son resúmenes explicativos del índice compacto vigente; prevalecen el texto y las condiciones del Registro. Aprobada no significa ejecutada. DEC-002 y DEC-004 fueron reemplazadas, respectivamente, por DEC-007 y DEC-008. El presupuesto es la línea base, no gasto realizado. DEC-023 no aprueba otra arquitectura, otro punto ni integración AM.
Fuente: Registro de Decisiones v1.9.2, p.2 · Consulta: 11–15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 significa decisión del Registro. Son resúmenes explicativos del índice compacto vigente; prevalecen el texto y las condiciones del Registro. Aprobada no significa ejecutada. DEC-002 y DEC-004 fueron reemplazadas, respectivamente, por DEC-007 y DEC-008. El presupuesto es la línea base, no gasto realizado. DEC-023 no aprueba otra arquitectura, otro punto ni integración AM.
Fuente: Registro de Decisiones v1.9.2, p.2 · Consulta: 16–20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 significa decisión del Registro. Son resúmenes explicativos del índice compacto vigente; prevalecen el texto y las condiciones del Registro. Aprobada no significa ejecutada. DEC-002 y DEC-004 fueron reemplazadas, respectivamente, por DEC-007 y DEC-008. El presupuesto es la línea base, no gasto realizado. DEC-023 no aprueba otra arquitectura, otro punto ni integración AM.
Fuente: Registro de Decisiones v1.9.2, p.2 · Consulta: 21–23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Indispensable corresponde a Must; deseable a Should. La prioridad no modifica el estado. Aprobado significa requisito aceptado, no implementado. Las condiciones completas de evidencia están en la Matriz v1.9.2, §§2–7. TEC-001 incluye banda/protocolo, SDK, puertos, firmware, cables, etiquetas y disponibilidad real. OPE-002 incluye horario, usuarios, equipos, red, energía, autorización, regla de evento y contingencia. VAL-005 requiere RF_REAL y verdad de terreno. VAL-006 orienta el piloto; cualquier ajuste por restricciones debe justificarse antes de iniciarlo. El piloto y la evidencia física RFID siguen pendientes.
Fuente: Matriz de Requisitos v1.9.2, pp.2–3 · Consulta: 1–5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Indispensable corresponde a Must; deseable a Should. La prioridad no modifica el estado. Aprobado significa requisito aceptado, no implementado. Las condiciones completas de evidencia están en la Matriz v1.9.2, §§2–7. TEC-001 incluye banda/protocolo, SDK, puertos, firmware, cables, etiquetas y disponibilidad real. OPE-002 incluye horario, usuarios, equipos, red, energía, autorización, regla de evento y contingencia. VAL-005 requiere RF_REAL y verdad de terreno. VAL-006 orienta el piloto; cualquier ajuste por restricciones debe justificarse antes de iniciarlo. El piloto y la evidencia física RFID siguen pendientes.
Fuente: Matriz de Requisitos v1.9.2, pp.2–3 · Consulta: 6–10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Indispensable corresponde a Must; deseable a Should. La prioridad no modifica el estado. Aprobado significa requisito aceptado, no implementado. Las condiciones completas de evidencia están en la Matriz v1.9.2, §§2–7. TEC-001 incluye banda/protocolo, SDK, puertos, firmware, cables, etiquetas y disponibilidad real. OPE-002 incluye horario, usuarios, equipos, red, energía, autorización, regla de evento y contingencia. VAL-005 requiere RF_REAL y verdad de terreno. VAL-006 orienta el piloto; cualquier ajuste por restricciones debe justificarse antes de iniciarlo. El piloto y la evidencia física RFID siguen pendientes.
Fuente: Matriz de Requisitos v1.9.2, pp.2–3 · Consulta: 11–15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Indispensable corresponde a Must; deseable a Should. La prioridad no modifica el estado. Aprobado significa requisito aceptado, no implementado. Las condiciones completas de evidencia están en la Matriz v1.9.2, §§2–7. TEC-001 incluye banda/protocolo, SDK, puertos, firmware, cables, etiquetas y disponibilidad real. OPE-002 incluye horario, usuarios, equipos, red, energía, autorización, regla de evento y contingencia. VAL-005 requiere RF_REAL y verdad de terreno. VAL-006 orienta el piloto; cualquier ajuste por restricciones debe justificarse antes de iniciarlo. El piloto y la evidencia física RFID siguen pendientes.
Fuente: Matriz de Requisitos v1.9.2, pp.2–3 · Consulta: 16–20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Indispensable corresponde a Must; deseable a Should. La prioridad no modifica el estado. Aprobado significa requisito aceptado, no implementado. Las condiciones completas de evidencia están en la Matriz v1.9.2, §§2–7. TEC-001 incluye banda/protocolo, SDK, puertos, firmware, cables, etiquetas y disponibilidad real. OPE-002 incluye horario, usuarios, equipos, red, energía, autorización, regla de evento y contingencia. VAL-005 requiere RF_REAL y verdad de terreno. VAL-006 orienta el piloto; cualquier ajuste por restricciones debe justificarse antes de iniciarlo. El piloto y la evidencia física RFID siguen pendientes.
Fuente: Matriz de Requisitos v1.9.2, pp.2–3 · Consulta: 21–25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Indispensable corresponde a Must; deseable a Should. La prioridad no modifica el estado. Aprobado significa requisito aceptado, no implementado. Las condiciones completas de evidencia están en la Matriz v1.9.2, §§2–7. TEC-001 incluye banda/protocolo, SDK, puertos, firmware, cables, etiquetas y disponibilidad real. OPE-002 incluye horario, usuarios, equipos, red, energía, autorización, regla de evento y contingencia. VAL-005 requiere RF_REAL y verdad de terreno. VAL-006 orienta el piloto; cualquier ajuste por restricciones debe justificarse antes de iniciarlo. El piloto y la evidencia física RFID siguen pendientes.
Fuente: Matriz de Requisitos v1.9.2, pp.2–3 · Consulta: 26–29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proyecto ya tiene avances de software verificables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aprobada, p.2 · Maestro v1.9.2, pp.1–2 · Corte 10/09/2026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6733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EMI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242316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y validación de un prototipo de trazabilidad basado en RFID pasivo para equipos biomédicos administrados por EMI Medellín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548640" y="4343400"/>
            <a:ext cx="2286000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459028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Juan José Cortés Fajardo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48640" y="5586984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6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física (RF_REAL) y piloto: PENDIENTES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puntos P0–P3 son condiciones de avance, no fases del cronograma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Maestro v1.9.2, §2 / §9 · Matriz v1.9.2, §5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suficiente para diseñar; requisitos indispensables definidos. CERRADO.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0891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UHF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70891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Lector autorizado, configuración y lectura física reproducible. EN CURSO.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844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719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operativo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377190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único punto, rutas, responsables, geometría y permisos. EN CURSO.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63143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3489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Aceptación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66160" y="483489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Fijar umbrales tras prepruebas y antes del piloto. PENDIENTE.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incrementos entregan partes verificables del software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Maestro v1.9.2, §2 / §4 / §9 · Informes de I1 e I2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Asociar equipo y etiqueta, corregir y conservar historial. CERRADO: 32 pruebas.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0891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simulada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70891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común y generación de lecturas simuladas. CERRADO: 25 pruebas nuevas.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844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719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I3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trabajo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377190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persistencia de lecturas y relación con sesión antes de programar. PENDIENTE.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63143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3489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Después de I3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66160" y="483489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Eventos, historial operativo, verificación, sustitución y contingencia; integración real condicionada.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sigla identifica un concepto y cada código permite rastrearlo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y Registro v1.9.2 · Glosario explicativo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 / EPC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por radiofrecuencia / código electrónico de la etiqueta.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0891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UHF / HF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70891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Bandas de ultraalta / alta frecuencia; el proyecto usa RFID UHF pasivo.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844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719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/ SDK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377190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mínimo viable / librerías y herramientas del fabricante.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63143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3489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RF-001 / DEC-022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66160" y="483489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 funcional / decisión registrada. El número es un identificador, no un resultado.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requisitos habilitaron Diseño y dos incrementos ya están cerrados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Maestro v1.9.2, §2 · I1 v0.2 · Informe I2, §9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2651760"/>
            <a:ext cx="10378440" cy="0"/>
          </a:xfrm>
          <a:prstGeom prst="line">
            <a:avLst/>
          </a:prstGeom>
          <a:noFill/>
          <a:ln w="22860">
            <a:solidFill>
              <a:srgbClr val="CDDA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709928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85216" y="2542032"/>
            <a:ext cx="210312" cy="210312"/>
          </a:xfrm>
          <a:prstGeom prst="ellipse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898648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base formal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657600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APROBADA / congelada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410712" y="1709928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suficientes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3447288" y="2542032"/>
            <a:ext cx="210312" cy="210312"/>
          </a:xfrm>
          <a:prstGeom prst="ellipse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10712" y="2898648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· cierre 03/09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410712" y="3657600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CERRADO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272784" y="1709928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Asociación e historial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6309360" y="2542032"/>
            <a:ext cx="210312" cy="210312"/>
          </a:xfrm>
          <a:prstGeom prst="ellipse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72784" y="2898648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 · informe 06/09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272784" y="3657600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CERRADO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134856" y="1709928"/>
            <a:ext cx="2505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simulada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9171432" y="2542032"/>
            <a:ext cx="210312" cy="210312"/>
          </a:xfrm>
          <a:prstGeom prst="ellipse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34856" y="2898648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 · evidencia 07/09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Consolidación 09/09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134856" y="3657600"/>
            <a:ext cx="2505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CERRADO técnicamente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48640" y="4389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Incremento = bloque técnico acotado y verificable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493776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→ Requisitos → DISEÑO → MVP → Pruebas → Piloto → Validación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formal: Diseño. Producto mínimo viable (MVP): aún incompleto.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prototipo aborda el registro de movimientos en un único punto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Propuesta, pp.3–4 · Registro v1.9.2: DEC-005 / DEC-008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14400" y="1920240"/>
            <a:ext cx="3261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2011680"/>
            <a:ext cx="3041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 físico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175760" y="2331720"/>
            <a:ext cx="246888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450080" y="1920240"/>
            <a:ext cx="3261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59808" y="2011680"/>
            <a:ext cx="3041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711440" y="2331720"/>
            <a:ext cx="246888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985760" y="1920240"/>
            <a:ext cx="3261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95488" y="2011680"/>
            <a:ext cx="3041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oportuno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14400" y="30175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correspondencia debe poder verificarse</a:t>
            </a:r>
            <a:endParaRPr lang="en-US" sz="2600" dirty="0"/>
          </a:p>
        </p:txBody>
      </p:sp>
      <p:sp>
        <p:nvSpPr>
          <p:cNvPr id="19" name="Shape 16"/>
          <p:cNvSpPr/>
          <p:nvPr/>
        </p:nvSpPr>
        <p:spPr>
          <a:xfrm>
            <a:off x="548640" y="3867912"/>
            <a:ext cx="11091672" cy="777240"/>
          </a:xfrm>
          <a:prstGeom prst="rect">
            <a:avLst/>
          </a:prstGeom>
          <a:solidFill>
            <a:srgbClr val="E8F1E2"/>
          </a:solidFill>
          <a:ln w="12700">
            <a:solidFill>
              <a:srgbClr val="E8F1E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4023360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UHF pasivo   ·   Equipos biomédicos   ·   Un punto autorizado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548640" y="495604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(sistema de activos): sin integración automática autorizada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 del alcance: localización en tiempo real, insumos y despliegue institucional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caracterización orientó el diseño; aún faltan rutas y roles por confirmar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Maestro v1.9.2, §6 · Registro: DEC-023 · Imagen aportada por el usuario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pic>
        <p:nvPicPr>
          <p:cNvPr id="10" name="Image 0" descr="presentation/build/assets/plano_aportado.png">    </p:cNvPr>
          <p:cNvPicPr>
            <a:picLocks noChangeAspect="1"/>
          </p:cNvPicPr>
          <p:nvPr/>
        </p:nvPicPr>
        <p:blipFill>
          <a:blip r:embed="rId1"/>
          <a:srcRect l="1783" t="8203" r="7308" b="42582"/>
          <a:stretch>
            <a:fillRect/>
          </a:stretch>
        </p:blipFill>
        <p:spPr>
          <a:xfrm>
            <a:off x="548640" y="1600200"/>
            <a:ext cx="6126480" cy="41444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1645920"/>
            <a:ext cx="4645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Recepción → preparación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dotación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995160" y="2606040"/>
            <a:ext cx="464515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159752" y="2697480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AM: sistema existente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159752" y="3108960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 “Ubicación Física”; su uso dinámico está pendiente.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995160" y="3840480"/>
            <a:ext cx="464515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159752" y="3931920"/>
            <a:ext cx="4315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Corroborado en el control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7159752" y="4343400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Ventanilla y picking; no demuestra instalación RFID.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995160" y="5212080"/>
            <a:ext cx="4645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confirmar: rutas y operador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548640" y="57607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ampliado del plano; sin escala verificada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requisitos convierten necesidades del proceso en comportamientos verificables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Propuesta, pp.3–6 · Matriz v1.9.2, RF-001 / RF-003 / RF-006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57276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Necesidad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816352" y="157276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093208" y="157276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360920" y="157276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637776" y="1572768"/>
            <a:ext cx="200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2194560"/>
            <a:ext cx="200253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 ↔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2551176" y="2606040"/>
            <a:ext cx="228600" cy="0"/>
          </a:xfrm>
          <a:prstGeom prst="line">
            <a:avLst/>
          </a:prstGeom>
          <a:noFill/>
          <a:ln w="22860">
            <a:solidFill>
              <a:srgbClr val="4D5E52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2816352" y="2194560"/>
            <a:ext cx="200253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2608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RF-001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Asociar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4818888" y="2606040"/>
            <a:ext cx="237744" cy="0"/>
          </a:xfrm>
          <a:prstGeom prst="line">
            <a:avLst/>
          </a:prstGeom>
          <a:noFill/>
          <a:ln w="22860">
            <a:solidFill>
              <a:srgbClr val="4D5E52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093208" y="2194560"/>
            <a:ext cx="200253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202936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histórica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7095744" y="2606040"/>
            <a:ext cx="228600" cy="0"/>
          </a:xfrm>
          <a:prstGeom prst="line">
            <a:avLst/>
          </a:prstGeom>
          <a:noFill/>
          <a:ln w="22860">
            <a:solidFill>
              <a:srgbClr val="4D5E52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360920" y="2194560"/>
            <a:ext cx="200253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70648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9363456" y="2606040"/>
            <a:ext cx="237744" cy="0"/>
          </a:xfrm>
          <a:prstGeom prst="line">
            <a:avLst/>
          </a:prstGeom>
          <a:noFill/>
          <a:ln w="22860">
            <a:solidFill>
              <a:srgbClr val="4D5E52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9637776" y="2194560"/>
            <a:ext cx="200253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747504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Corrección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rollback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548640" y="3227832"/>
            <a:ext cx="2002536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658368" y="331927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movimiento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2551176" y="3639312"/>
            <a:ext cx="228600" cy="0"/>
          </a:xfrm>
          <a:prstGeom prst="line">
            <a:avLst/>
          </a:prstGeom>
          <a:noFill/>
          <a:ln w="22860">
            <a:solidFill>
              <a:srgbClr val="4D5E52"/>
            </a:solidFill>
            <a:prstDash val="dash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2816352" y="3227832"/>
            <a:ext cx="2002536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2926080" y="331927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RF-003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4818888" y="3639312"/>
            <a:ext cx="237744" cy="0"/>
          </a:xfrm>
          <a:prstGeom prst="line">
            <a:avLst/>
          </a:prstGeom>
          <a:noFill/>
          <a:ln w="22860">
            <a:solidFill>
              <a:srgbClr val="4D5E52"/>
            </a:solidFill>
            <a:prstDash val="dash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5093208" y="3227832"/>
            <a:ext cx="2002536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36" name="Text 33"/>
          <p:cNvSpPr/>
          <p:nvPr/>
        </p:nvSpPr>
        <p:spPr>
          <a:xfrm>
            <a:off x="5202936" y="331927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evento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7095744" y="3639312"/>
            <a:ext cx="228600" cy="0"/>
          </a:xfrm>
          <a:prstGeom prst="line">
            <a:avLst/>
          </a:prstGeom>
          <a:noFill/>
          <a:ln w="22860">
            <a:solidFill>
              <a:srgbClr val="4D5E52"/>
            </a:solidFill>
            <a:prstDash val="dash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7360920" y="3227832"/>
            <a:ext cx="2002536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39" name="Text 36"/>
          <p:cNvSpPr/>
          <p:nvPr/>
        </p:nvSpPr>
        <p:spPr>
          <a:xfrm>
            <a:off x="7470648" y="331927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2000" dirty="0"/>
          </a:p>
        </p:txBody>
      </p:sp>
      <p:sp>
        <p:nvSpPr>
          <p:cNvPr id="40" name="Shape 37"/>
          <p:cNvSpPr/>
          <p:nvPr/>
        </p:nvSpPr>
        <p:spPr>
          <a:xfrm>
            <a:off x="9363456" y="3639312"/>
            <a:ext cx="237744" cy="0"/>
          </a:xfrm>
          <a:prstGeom prst="line">
            <a:avLst/>
          </a:prstGeom>
          <a:noFill/>
          <a:ln w="22860">
            <a:solidFill>
              <a:srgbClr val="4D5E52"/>
            </a:solidFill>
            <a:prstDash val="dash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9637776" y="3227832"/>
            <a:ext cx="2002536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42" name="Text 39"/>
          <p:cNvSpPr/>
          <p:nvPr/>
        </p:nvSpPr>
        <p:spPr>
          <a:xfrm>
            <a:off x="9747504" y="3319272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ejecutar</a:t>
            </a:r>
            <a:endParaRPr lang="en-US" sz="2000" dirty="0"/>
          </a:p>
        </p:txBody>
      </p:sp>
      <p:sp>
        <p:nvSpPr>
          <p:cNvPr id="43" name="Shape 40"/>
          <p:cNvSpPr/>
          <p:nvPr/>
        </p:nvSpPr>
        <p:spPr>
          <a:xfrm>
            <a:off x="548640" y="4261104"/>
            <a:ext cx="2002536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44" name="Text 41"/>
          <p:cNvSpPr/>
          <p:nvPr/>
        </p:nvSpPr>
        <p:spPr>
          <a:xfrm>
            <a:off x="658368" y="4352544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excepción</a:t>
            </a:r>
            <a:endParaRPr lang="en-US" sz="2000" dirty="0"/>
          </a:p>
        </p:txBody>
      </p:sp>
      <p:sp>
        <p:nvSpPr>
          <p:cNvPr id="45" name="Shape 42"/>
          <p:cNvSpPr/>
          <p:nvPr/>
        </p:nvSpPr>
        <p:spPr>
          <a:xfrm>
            <a:off x="2551176" y="4672584"/>
            <a:ext cx="228600" cy="0"/>
          </a:xfrm>
          <a:prstGeom prst="line">
            <a:avLst/>
          </a:prstGeom>
          <a:noFill/>
          <a:ln w="22860">
            <a:solidFill>
              <a:srgbClr val="4D5E52"/>
            </a:solidFill>
            <a:prstDash val="dash"/>
            <a:tailEnd type="triangle"/>
          </a:ln>
        </p:spPr>
      </p:sp>
      <p:sp>
        <p:nvSpPr>
          <p:cNvPr id="46" name="Shape 43"/>
          <p:cNvSpPr/>
          <p:nvPr/>
        </p:nvSpPr>
        <p:spPr>
          <a:xfrm>
            <a:off x="2816352" y="4261104"/>
            <a:ext cx="2002536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47" name="Text 44"/>
          <p:cNvSpPr/>
          <p:nvPr/>
        </p:nvSpPr>
        <p:spPr>
          <a:xfrm>
            <a:off x="2926080" y="4352544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RF-006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4818888" y="4672584"/>
            <a:ext cx="237744" cy="0"/>
          </a:xfrm>
          <a:prstGeom prst="line">
            <a:avLst/>
          </a:prstGeom>
          <a:noFill/>
          <a:ln w="22860">
            <a:solidFill>
              <a:srgbClr val="4D5E52"/>
            </a:solidFill>
            <a:prstDash val="dash"/>
            <a:tailEnd type="triangle"/>
          </a:ln>
        </p:spPr>
      </p:sp>
      <p:sp>
        <p:nvSpPr>
          <p:cNvPr id="49" name="Shape 46"/>
          <p:cNvSpPr/>
          <p:nvPr/>
        </p:nvSpPr>
        <p:spPr>
          <a:xfrm>
            <a:off x="5093208" y="4261104"/>
            <a:ext cx="2002536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50" name="Text 47"/>
          <p:cNvSpPr/>
          <p:nvPr/>
        </p:nvSpPr>
        <p:spPr>
          <a:xfrm>
            <a:off x="5202936" y="4352544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Contingencia</a:t>
            </a:r>
            <a:endParaRPr lang="en-US" sz="2000" dirty="0"/>
          </a:p>
        </p:txBody>
      </p:sp>
      <p:sp>
        <p:nvSpPr>
          <p:cNvPr id="51" name="Shape 48"/>
          <p:cNvSpPr/>
          <p:nvPr/>
        </p:nvSpPr>
        <p:spPr>
          <a:xfrm>
            <a:off x="7095744" y="4672584"/>
            <a:ext cx="228600" cy="0"/>
          </a:xfrm>
          <a:prstGeom prst="line">
            <a:avLst/>
          </a:prstGeom>
          <a:noFill/>
          <a:ln w="22860">
            <a:solidFill>
              <a:srgbClr val="4D5E52"/>
            </a:solidFill>
            <a:prstDash val="dash"/>
            <a:tailEnd type="triangle"/>
          </a:ln>
        </p:spPr>
      </p:sp>
      <p:sp>
        <p:nvSpPr>
          <p:cNvPr id="52" name="Shape 49"/>
          <p:cNvSpPr/>
          <p:nvPr/>
        </p:nvSpPr>
        <p:spPr>
          <a:xfrm>
            <a:off x="7360920" y="4261104"/>
            <a:ext cx="2002536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53" name="Text 50"/>
          <p:cNvSpPr/>
          <p:nvPr/>
        </p:nvSpPr>
        <p:spPr>
          <a:xfrm>
            <a:off x="7470648" y="4352544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2000" dirty="0"/>
          </a:p>
        </p:txBody>
      </p:sp>
      <p:sp>
        <p:nvSpPr>
          <p:cNvPr id="54" name="Shape 51"/>
          <p:cNvSpPr/>
          <p:nvPr/>
        </p:nvSpPr>
        <p:spPr>
          <a:xfrm>
            <a:off x="9363456" y="4672584"/>
            <a:ext cx="237744" cy="0"/>
          </a:xfrm>
          <a:prstGeom prst="line">
            <a:avLst/>
          </a:prstGeom>
          <a:noFill/>
          <a:ln w="22860">
            <a:solidFill>
              <a:srgbClr val="4D5E52"/>
            </a:solidFill>
            <a:prstDash val="dash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9637776" y="4261104"/>
            <a:ext cx="2002536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56" name="Text 53"/>
          <p:cNvSpPr/>
          <p:nvPr/>
        </p:nvSpPr>
        <p:spPr>
          <a:xfrm>
            <a:off x="9747504" y="4352544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ejecutar</a:t>
            </a:r>
            <a:endParaRPr lang="en-US" sz="2000" dirty="0"/>
          </a:p>
        </p:txBody>
      </p:sp>
      <p:sp>
        <p:nvSpPr>
          <p:cNvPr id="57" name="Text 54"/>
          <p:cNvSpPr/>
          <p:nvPr/>
        </p:nvSpPr>
        <p:spPr>
          <a:xfrm>
            <a:off x="548640" y="547725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existentes; los hallazgos posteriores refinan condiciones</a:t>
            </a:r>
            <a:endParaRPr lang="en-US" sz="2200" dirty="0"/>
          </a:p>
        </p:txBody>
      </p:sp>
      <p:sp>
        <p:nvSpPr>
          <p:cNvPr id="58" name="Text 55"/>
          <p:cNvSpPr/>
          <p:nvPr/>
        </p:nvSpPr>
        <p:spPr>
          <a:xfrm>
            <a:off x="548640" y="584301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RF-006 conserva Should / Aprobado. Aprobado ≠ implementado.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arquitectura separa identidad, entrada de lecturas y operación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Maestro v1.9.2, §4 / §9 · Matriz, pp.2–4 · Informe I2, §3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486400" y="157276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6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 PENDIENTE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148840"/>
            <a:ext cx="44348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240280"/>
            <a:ext cx="4105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 · Identidad y asociaciones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13232" y="2651760"/>
            <a:ext cx="4105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 ↔ Asignación ↔ Etiqueta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/ JDBC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3886200"/>
            <a:ext cx="4434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977640"/>
            <a:ext cx="4105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 · Entrada de lecturas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13232" y="4389120"/>
            <a:ext cx="4105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común → LecturaEntradaRFID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532120" y="2148840"/>
            <a:ext cx="6080760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5641848" y="2240280"/>
            <a:ext cx="5861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LecturaRFID persistida + sesión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532120" y="3410712"/>
            <a:ext cx="6080760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5641848" y="3502152"/>
            <a:ext cx="5861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/ deduplicación / historial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532120" y="4663440"/>
            <a:ext cx="6080760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23" name="Text 20"/>
          <p:cNvSpPr/>
          <p:nvPr/>
        </p:nvSpPr>
        <p:spPr>
          <a:xfrm>
            <a:off x="5641848" y="4754880"/>
            <a:ext cx="5861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 / sustitución / contingencia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983480" y="2852928"/>
            <a:ext cx="274320" cy="0"/>
          </a:xfrm>
          <a:prstGeom prst="line">
            <a:avLst/>
          </a:prstGeom>
          <a:noFill/>
          <a:ln w="22860">
            <a:solidFill>
              <a:srgbClr val="536255"/>
            </a:solidFill>
            <a:prstDash val="dash"/>
          </a:ln>
        </p:spPr>
      </p:sp>
      <p:sp>
        <p:nvSpPr>
          <p:cNvPr id="25" name="Shape 22"/>
          <p:cNvSpPr/>
          <p:nvPr/>
        </p:nvSpPr>
        <p:spPr>
          <a:xfrm>
            <a:off x="4983480" y="4526280"/>
            <a:ext cx="274320" cy="0"/>
          </a:xfrm>
          <a:prstGeom prst="line">
            <a:avLst/>
          </a:prstGeom>
          <a:noFill/>
          <a:ln w="22860">
            <a:solidFill>
              <a:srgbClr val="536255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 flipV="1">
            <a:off x="5257800" y="2560320"/>
            <a:ext cx="0" cy="1965960"/>
          </a:xfrm>
          <a:prstGeom prst="line">
            <a:avLst/>
          </a:prstGeom>
          <a:noFill/>
          <a:ln w="22860">
            <a:solidFill>
              <a:srgbClr val="536255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5257800" y="2560320"/>
            <a:ext cx="274320" cy="0"/>
          </a:xfrm>
          <a:prstGeom prst="line">
            <a:avLst/>
          </a:prstGeom>
          <a:noFill/>
          <a:ln w="22860">
            <a:solidFill>
              <a:srgbClr val="536255"/>
            </a:solidFill>
            <a:prstDash val="dash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577072" y="2971800"/>
            <a:ext cx="0" cy="402336"/>
          </a:xfrm>
          <a:prstGeom prst="line">
            <a:avLst/>
          </a:prstGeom>
          <a:noFill/>
          <a:ln w="22860">
            <a:solidFill>
              <a:srgbClr val="536255"/>
            </a:solidFill>
            <a:prstDash val="dash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8577072" y="4233672"/>
            <a:ext cx="0" cy="393192"/>
          </a:xfrm>
          <a:prstGeom prst="line">
            <a:avLst/>
          </a:prstGeom>
          <a:noFill/>
          <a:ln w="22860">
            <a:solidFill>
              <a:srgbClr val="536255"/>
            </a:solidFill>
            <a:prstDash val="dash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548640" y="57332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EPC: identificador de etiqueta · Sesión: contexto de una operación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stack elegido sostiene el desarrollo y las pruebas del MVP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v1.9.2: DEC-022 · pom.xml · Informe I1, pp.3–4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5087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EJECUCIÓN · LÓGICA Y DATOS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1975104"/>
            <a:ext cx="3429000" cy="1783080"/>
          </a:xfrm>
          <a:prstGeom prst="rect">
            <a:avLst/>
          </a:prstGeom>
          <a:solidFill>
            <a:srgbClr val="203C2B"/>
          </a:solidFill>
          <a:ln w="12700">
            <a:solidFill>
              <a:srgbClr val="203C2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2093976"/>
            <a:ext cx="585216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0" descr="presentation/build/assets/logos/jav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952" y="2139696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44752" y="2167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 LTS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749808" y="274320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Lógica y casos de uso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49808" y="3374136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LTS: soporte prolongado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3977640" y="2862072"/>
            <a:ext cx="384048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379976" y="1975104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44568" y="2093976"/>
            <a:ext cx="585216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1" descr="presentation/build/assets/logos/java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0288" y="2139696"/>
            <a:ext cx="493776" cy="4937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76088" y="2167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JDBC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4581144" y="274320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a la base de datos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4581144" y="3374136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de conexión desde Java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7808976" y="2862072"/>
            <a:ext cx="384048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8211312" y="1975104"/>
            <a:ext cx="34290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375904" y="2093976"/>
            <a:ext cx="585216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2" descr="presentation/build/assets/logos/sqlite.sv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1624" y="2139696"/>
            <a:ext cx="493776" cy="49377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07424" y="21671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8412480" y="274320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 local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8412480" y="3374136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en archivo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548640" y="395935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CONSTRUIR Y VERIFICAR</a:t>
            </a:r>
            <a:endParaRPr lang="en-US" sz="1800" dirty="0"/>
          </a:p>
        </p:txBody>
      </p:sp>
      <p:sp>
        <p:nvSpPr>
          <p:cNvPr id="32" name="Shape 26"/>
          <p:cNvSpPr/>
          <p:nvPr/>
        </p:nvSpPr>
        <p:spPr>
          <a:xfrm>
            <a:off x="548640" y="4425696"/>
            <a:ext cx="3429000" cy="1024128"/>
          </a:xfrm>
          <a:prstGeom prst="rect">
            <a:avLst/>
          </a:prstGeom>
          <a:solidFill>
            <a:srgbClr val="E8F1E2"/>
          </a:solidFill>
          <a:ln w="12700">
            <a:solidFill>
              <a:srgbClr val="E8F1E2"/>
            </a:solidFill>
            <a:prstDash val="solid"/>
          </a:ln>
        </p:spPr>
      </p:sp>
      <p:pic>
        <p:nvPicPr>
          <p:cNvPr id="33" name="Image 3" descr="presentation/build/assets/logos/maven.sv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3232" y="4602746"/>
            <a:ext cx="960120" cy="2402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828800" y="45445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</a:t>
            </a:r>
            <a:endParaRPr lang="en-US" sz="2400" dirty="0"/>
          </a:p>
        </p:txBody>
      </p:sp>
      <p:sp>
        <p:nvSpPr>
          <p:cNvPr id="35" name="Text 28"/>
          <p:cNvSpPr/>
          <p:nvPr/>
        </p:nvSpPr>
        <p:spPr>
          <a:xfrm>
            <a:off x="749808" y="50109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Compilar y empaquetar</a:t>
            </a:r>
            <a:endParaRPr lang="en-US" sz="1800" dirty="0"/>
          </a:p>
        </p:txBody>
      </p:sp>
      <p:sp>
        <p:nvSpPr>
          <p:cNvPr id="36" name="Shape 29"/>
          <p:cNvSpPr/>
          <p:nvPr/>
        </p:nvSpPr>
        <p:spPr>
          <a:xfrm>
            <a:off x="4379976" y="4425696"/>
            <a:ext cx="3429000" cy="1024128"/>
          </a:xfrm>
          <a:prstGeom prst="rect">
            <a:avLst/>
          </a:prstGeom>
          <a:solidFill>
            <a:srgbClr val="E8F1E2"/>
          </a:solidFill>
          <a:ln w="12700">
            <a:solidFill>
              <a:srgbClr val="E8F1E2"/>
            </a:solidFill>
            <a:prstDash val="solid"/>
          </a:ln>
        </p:spPr>
      </p:sp>
      <p:pic>
        <p:nvPicPr>
          <p:cNvPr id="37" name="Image 4" descr="presentation/build/assets/logos/junit.sv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28032" y="4526280"/>
            <a:ext cx="393192" cy="39319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660136" y="45445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5</a:t>
            </a:r>
            <a:endParaRPr lang="en-US" sz="2400" dirty="0"/>
          </a:p>
        </p:txBody>
      </p:sp>
      <p:sp>
        <p:nvSpPr>
          <p:cNvPr id="39" name="Text 31"/>
          <p:cNvSpPr/>
          <p:nvPr/>
        </p:nvSpPr>
        <p:spPr>
          <a:xfrm>
            <a:off x="4581144" y="50109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automatizadas</a:t>
            </a:r>
            <a:endParaRPr lang="en-US" sz="1800" dirty="0"/>
          </a:p>
        </p:txBody>
      </p:sp>
      <p:sp>
        <p:nvSpPr>
          <p:cNvPr id="40" name="Shape 32"/>
          <p:cNvSpPr/>
          <p:nvPr/>
        </p:nvSpPr>
        <p:spPr>
          <a:xfrm>
            <a:off x="8211312" y="4425696"/>
            <a:ext cx="3429000" cy="1024128"/>
          </a:xfrm>
          <a:prstGeom prst="rect">
            <a:avLst/>
          </a:prstGeom>
          <a:solidFill>
            <a:srgbClr val="E8F1E2"/>
          </a:solidFill>
          <a:ln w="12700">
            <a:solidFill>
              <a:srgbClr val="E8F1E2"/>
            </a:solidFill>
            <a:prstDash val="solid"/>
          </a:ln>
        </p:spPr>
      </p:sp>
      <p:pic>
        <p:nvPicPr>
          <p:cNvPr id="41" name="Image 5" descr="presentation/build/assets/logos/flyway.sv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59368" y="4526280"/>
            <a:ext cx="393192" cy="39319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9491472" y="454456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Flyway</a:t>
            </a:r>
            <a:endParaRPr lang="en-US" sz="2400" dirty="0"/>
          </a:p>
        </p:txBody>
      </p:sp>
      <p:sp>
        <p:nvSpPr>
          <p:cNvPr id="43" name="Text 34"/>
          <p:cNvSpPr/>
          <p:nvPr/>
        </p:nvSpPr>
        <p:spPr>
          <a:xfrm>
            <a:off x="8412480" y="5010912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Versionar migraciones</a:t>
            </a:r>
            <a:endParaRPr lang="en-US" sz="1800" dirty="0"/>
          </a:p>
        </p:txBody>
      </p:sp>
      <p:sp>
        <p:nvSpPr>
          <p:cNvPr id="44" name="Text 35"/>
          <p:cNvSpPr/>
          <p:nvPr/>
        </p:nvSpPr>
        <p:spPr>
          <a:xfrm>
            <a:off x="548640" y="5797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implementado en software; integración física RFID pendiente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Varias lecturas del mismo EPC no prueban varios movimientos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Propuesta, p.4 · Maestro v1.9.2, §4 · Informe I2, §§6–9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1828800"/>
            <a:ext cx="1234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920240"/>
            <a:ext cx="101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A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965960" y="1828800"/>
            <a:ext cx="1234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75688" y="1920240"/>
            <a:ext cx="101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A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383280" y="1828800"/>
            <a:ext cx="1234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93008" y="1920240"/>
            <a:ext cx="101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A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828032" y="1892808"/>
            <a:ext cx="6812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Entrada: tres observaciones</a:t>
            </a:r>
            <a:endParaRPr lang="en-US" sz="2600" dirty="0"/>
          </a:p>
        </p:txBody>
      </p:sp>
      <p:sp>
        <p:nvSpPr>
          <p:cNvPr id="17" name="Shape 14"/>
          <p:cNvSpPr/>
          <p:nvPr/>
        </p:nvSpPr>
        <p:spPr>
          <a:xfrm>
            <a:off x="548640" y="2962656"/>
            <a:ext cx="2567178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658368" y="3054096"/>
            <a:ext cx="23477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Persistencia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3115818" y="3374136"/>
            <a:ext cx="246888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dash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390138" y="2962656"/>
            <a:ext cx="2567178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3499866" y="3054096"/>
            <a:ext cx="23477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957316" y="3374136"/>
            <a:ext cx="246888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dash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231636" y="2962656"/>
            <a:ext cx="2567178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6341364" y="3054096"/>
            <a:ext cx="23477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Deduplicación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8798814" y="3374136"/>
            <a:ext cx="246888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dash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9073134" y="2962656"/>
            <a:ext cx="2567178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9182862" y="3054096"/>
            <a:ext cx="23477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548640" y="3977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 operativo PENDIENTE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48640" y="4489704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entrada conserva repeticiones; el evento exige una regla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548640" y="52760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Verificación: esperados vs. detectados · Sustitución: reemplazo con cierre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48640" y="570585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Contingencia: excepción manual explícita · Ejemplo didáctico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 corrige asociaciones y conserva el historial incluso ante fallos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Informe de cierre I1 v0.2, pp.2–5 · Matriz: RF-001 · SOFTWARE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1691640"/>
            <a:ext cx="2392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1783080"/>
            <a:ext cx="2173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941320" y="2103120"/>
            <a:ext cx="246888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215640" y="1691640"/>
            <a:ext cx="2392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25368" y="1783080"/>
            <a:ext cx="2173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Asignación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608320" y="2103120"/>
            <a:ext cx="246888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882640" y="1691640"/>
            <a:ext cx="2392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92368" y="1783080"/>
            <a:ext cx="2173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EtiquetaRFID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48640" y="2999232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8368" y="3090672"/>
            <a:ext cx="3346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Anterior: cerrada en t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4709160" y="2999232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18888" y="3090672"/>
            <a:ext cx="3346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Nueva: vigente desde t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4114800" y="3392424"/>
            <a:ext cx="548640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solid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8778240" y="1901952"/>
            <a:ext cx="2834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6400" dirty="0"/>
          </a:p>
        </p:txBody>
      </p:sp>
      <p:sp>
        <p:nvSpPr>
          <p:cNvPr id="24" name="Text 21"/>
          <p:cNvSpPr/>
          <p:nvPr/>
        </p:nvSpPr>
        <p:spPr>
          <a:xfrm>
            <a:off x="8778240" y="2834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automatizadas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548640" y="4306824"/>
            <a:ext cx="11091672" cy="1078992"/>
          </a:xfrm>
          <a:prstGeom prst="rect">
            <a:avLst/>
          </a:prstGeom>
          <a:solidFill>
            <a:srgbClr val="E8F1E2"/>
          </a:solidFill>
          <a:ln w="12700">
            <a:solidFill>
              <a:srgbClr val="E8F1E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77240" y="4443984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anterior + crear nueva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transacción · Misma fecha/hora · Rollback probado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 CERRADO · RF-001 IMPLEMENTADO · Historial de asociaciones, no de movimientos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 genera lecturas simuladas mediante un contrato independiente del fabricante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Maestro v1.9.2, §4 · Matriz: TEC-002 · Informe I2, §§4–9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07792" y="1645920"/>
            <a:ext cx="6400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0" y="1737360"/>
            <a:ext cx="6181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FuenteLecturasRFID · interfaz implementada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2834640"/>
            <a:ext cx="495604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" y="2926080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FuenteSimulada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675120" y="2834640"/>
            <a:ext cx="4965192" cy="73152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6784848" y="2926080"/>
            <a:ext cx="4745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UHF real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645920" y="23500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464040" y="2350008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implementará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 flipV="1">
            <a:off x="3026664" y="2322576"/>
            <a:ext cx="905256" cy="493776"/>
          </a:xfrm>
          <a:prstGeom prst="line">
            <a:avLst/>
          </a:prstGeom>
          <a:noFill/>
          <a:ln w="22860">
            <a:solidFill>
              <a:srgbClr val="357A3E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 flipH="1" flipV="1">
            <a:off x="8503920" y="2322576"/>
            <a:ext cx="640080" cy="493776"/>
          </a:xfrm>
          <a:prstGeom prst="line">
            <a:avLst/>
          </a:prstGeom>
          <a:noFill/>
          <a:ln w="22860">
            <a:solidFill>
              <a:srgbClr val="536255"/>
            </a:solidFill>
            <a:prstDash val="dash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907792" y="4178808"/>
            <a:ext cx="6400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4270248"/>
            <a:ext cx="6181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LecturaEntradaRFID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3017520" y="3566160"/>
            <a:ext cx="1097280" cy="576072"/>
          </a:xfrm>
          <a:prstGeom prst="line">
            <a:avLst/>
          </a:prstGeom>
          <a:noFill/>
          <a:ln w="22860">
            <a:solidFill>
              <a:srgbClr val="357A3E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 flipH="1">
            <a:off x="8046720" y="3566160"/>
            <a:ext cx="1097280" cy="576072"/>
          </a:xfrm>
          <a:prstGeom prst="line">
            <a:avLst/>
          </a:prstGeom>
          <a:noFill/>
          <a:ln w="22860">
            <a:solidFill>
              <a:srgbClr val="536255"/>
            </a:solidFill>
            <a:prstDash val="dash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2907792" y="50109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· timestamp · origen · metadata opcional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48640" y="5532120"/>
            <a:ext cx="6309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 CERRADO · SIMULACIÓN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812280" y="5376672"/>
            <a:ext cx="4828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TEC-002 EN DESARROLLO: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segunda fuente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SDK inspeccionado aún debe probarse con hardware UHF autorizado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Maestro v1.9.2, §5 / §7 · Registro: DEC-019 / DEC-021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= hardware e integración UHF · EN CURSO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48640" y="2148840"/>
            <a:ext cx="3493008" cy="1527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22402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inspeccionado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13232" y="2651760"/>
            <a:ext cx="31638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Librerías del fabricante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estático completado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343400" y="2148840"/>
            <a:ext cx="3493008" cy="1527048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4507992" y="22402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funcional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507992" y="2651760"/>
            <a:ext cx="31638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21 + unidad/firmware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PENDIENTE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138160" y="2148840"/>
            <a:ext cx="3493008" cy="1527048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8302752" y="2240280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reproducible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302752" y="2651760"/>
            <a:ext cx="31638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autorizado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RF_REAL PENDIENTE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422452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F12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RC522 · HF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291072" y="4224528"/>
            <a:ext cx="5340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 · UHF pasivo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548640" y="4846320"/>
            <a:ext cx="5166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Incompatible con las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etiquetas UHF del proyecto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291072" y="4846320"/>
            <a:ext cx="5340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U300: candidato provisional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final CONDICIONADA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configuración física depende de delimitar el punto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Maestro v1.9.2, §6 / §9.1 · Imagen aportada: apoyo interpretativo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pic>
        <p:nvPicPr>
          <p:cNvPr id="10" name="Image 0" descr="presentation/build/assets/plano_aportado.png">    </p:cNvPr>
          <p:cNvPicPr>
            <a:picLocks noChangeAspect="1"/>
          </p:cNvPicPr>
          <p:nvPr/>
        </p:nvPicPr>
        <p:blipFill>
          <a:blip r:embed="rId1"/>
          <a:srcRect l="1783" t="8203" r="7308" b="42582"/>
          <a:stretch>
            <a:fillRect/>
          </a:stretch>
        </p:blipFill>
        <p:spPr>
          <a:xfrm>
            <a:off x="548640" y="1572768"/>
            <a:ext cx="6126480" cy="41444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95160" y="1600200"/>
            <a:ext cx="4645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· Definir el punto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CURSO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6995160" y="2697480"/>
            <a:ext cx="4645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Ventanilla → preparación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dotación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995160" y="3520440"/>
            <a:ext cx="4645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preliminar; rutas por confirmar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995160" y="4343400"/>
            <a:ext cx="46451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 + puerta: dos antenas solo si forman un único punto autorizado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995160" y="5504688"/>
            <a:ext cx="4645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Antena ≠ dirección del movimiento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48640" y="5797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sin escala verificada; no demuestra cobertura RF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evidencia demuestra software; el desempeño físico sigue pendiente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Maestro v1.9.2, pp.2–5 · Matriz, pp.3–5 · Informe I2, §9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1691640"/>
            <a:ext cx="3703320" cy="4142232"/>
          </a:xfrm>
          <a:prstGeom prst="rect">
            <a:avLst/>
          </a:prstGeom>
          <a:solidFill>
            <a:srgbClr val="E9F2E5"/>
          </a:solidFill>
          <a:ln w="12700">
            <a:solidFill>
              <a:srgbClr val="E9F2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1691640"/>
            <a:ext cx="7114032" cy="4142232"/>
          </a:xfrm>
          <a:prstGeom prst="rect">
            <a:avLst/>
          </a:prstGeom>
          <a:solidFill>
            <a:srgbClr val="F0F4EA"/>
          </a:solidFill>
          <a:ln w="12700">
            <a:solidFill>
              <a:srgbClr val="F0F4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1847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DEMOSTRADO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4754880" y="184708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TODAVÍA PENDIENTE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77240" y="242316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Asociación, historial y rollback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77240" y="3648456"/>
            <a:ext cx="3246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Contrato, orden, repeticiones y origen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77240" y="491947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+ 25 = 57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777240" y="54223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fallos / errores / omitidas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754880" y="2423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556248" y="2423160"/>
            <a:ext cx="4873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EPC UHF RF_REAL reproducible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754880" y="30632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físico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556248" y="3063240"/>
            <a:ext cx="4873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Omisiones, lecturas externas, interferencia y superficies/materiales relevantes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754880" y="422452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556248" y="4224528"/>
            <a:ext cx="48737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física congelada;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= criterios de aceptación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754880" y="5120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556248" y="5120640"/>
            <a:ext cx="4873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controladas físicas y piloto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48640" y="579729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previa de software/simulación; fase formal de Pruebas pendiente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piloto requiere completar el MVP y pasar por pruebas controladas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Propuesta, pp.5–9 · Maestro v1.9.2, §9 · Matriz: VAL-003 a VAL-006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572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926080" y="1554480"/>
            <a:ext cx="4219956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3035808" y="1645920"/>
            <a:ext cx="40005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lectura–sesión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146036" y="1965960"/>
            <a:ext cx="246888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dash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420356" y="1554480"/>
            <a:ext cx="4219956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15" name="Text 12"/>
          <p:cNvSpPr/>
          <p:nvPr/>
        </p:nvSpPr>
        <p:spPr>
          <a:xfrm>
            <a:off x="7530084" y="1645920"/>
            <a:ext cx="40005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MVP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8640" y="27249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FÍSICAS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926080" y="2706624"/>
            <a:ext cx="2721864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3035808" y="2798064"/>
            <a:ext cx="2502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/ P2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647944" y="3118104"/>
            <a:ext cx="246888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dash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922264" y="2706624"/>
            <a:ext cx="2721864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6031992" y="2798064"/>
            <a:ext cx="2502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Prepruebas RF_REAL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8644128" y="3118104"/>
            <a:ext cx="246888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dash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918448" y="2706624"/>
            <a:ext cx="2721864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9028176" y="2798064"/>
            <a:ext cx="2502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P3: criterios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48640" y="367588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frentes preparan las pruebas: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4215384"/>
            <a:ext cx="3514344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27" name="Text 24"/>
          <p:cNvSpPr/>
          <p:nvPr/>
        </p:nvSpPr>
        <p:spPr>
          <a:xfrm>
            <a:off x="658368" y="4306824"/>
            <a:ext cx="3294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controladas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4062984" y="4626864"/>
            <a:ext cx="246888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dash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4337304" y="4215384"/>
            <a:ext cx="3514344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4447032" y="4306824"/>
            <a:ext cx="3294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único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7851648" y="4626864"/>
            <a:ext cx="246888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dash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8125968" y="4215384"/>
            <a:ext cx="3514344" cy="82296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8235696" y="4306824"/>
            <a:ext cx="3294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548640" y="54041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≥10 repeticiones + verdad de terreno · Cero eventos duplicados: criterio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548640" y="57698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RF/tiempo tras prepruebas · Piloto pendiente, condicionado a hardware y permisos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red conecta requisitos, desarrollo y evaluación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de precedencias · Maestro v1.9.2, §2 / §9 · Matriz, requisitos y P0–P3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162763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→ MVP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0" y="1627632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EVALUACIÓN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240280" y="3447288"/>
            <a:ext cx="228600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2816352"/>
            <a:ext cx="0" cy="1572768"/>
          </a:xfrm>
          <a:prstGeom prst="line">
            <a:avLst/>
          </a:prstGeom>
          <a:noFill/>
          <a:ln w="22860">
            <a:solidFill>
              <a:srgbClr val="357A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2816352"/>
            <a:ext cx="274320" cy="0"/>
          </a:xfrm>
          <a:prstGeom prst="line">
            <a:avLst/>
          </a:prstGeom>
          <a:noFill/>
          <a:ln w="22860">
            <a:solidFill>
              <a:srgbClr val="357A3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468880" y="4389120"/>
            <a:ext cx="274320" cy="0"/>
          </a:xfrm>
          <a:prstGeom prst="line">
            <a:avLst/>
          </a:prstGeom>
          <a:noFill/>
          <a:ln w="22860">
            <a:solidFill>
              <a:srgbClr val="536255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20640" y="2816352"/>
            <a:ext cx="457200" cy="0"/>
          </a:xfrm>
          <a:prstGeom prst="line">
            <a:avLst/>
          </a:prstGeom>
          <a:noFill/>
          <a:ln w="22860">
            <a:solidFill>
              <a:srgbClr val="536255"/>
            </a:solidFill>
            <a:prstDash val="dash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0640" y="4389120"/>
            <a:ext cx="457200" cy="0"/>
          </a:xfrm>
          <a:prstGeom prst="line">
            <a:avLst/>
          </a:prstGeom>
          <a:noFill/>
          <a:ln w="22860">
            <a:solidFill>
              <a:srgbClr val="536255"/>
            </a:solidFill>
            <a:prstDash val="dash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83880" y="2816352"/>
            <a:ext cx="228600" cy="0"/>
          </a:xfrm>
          <a:prstGeom prst="line">
            <a:avLst/>
          </a:prstGeom>
          <a:noFill/>
          <a:ln w="22860">
            <a:solidFill>
              <a:srgbClr val="536255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183880" y="4389120"/>
            <a:ext cx="228600" cy="0"/>
          </a:xfrm>
          <a:prstGeom prst="line">
            <a:avLst/>
          </a:prstGeom>
          <a:noFill/>
          <a:ln w="22860">
            <a:solidFill>
              <a:srgbClr val="536255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412480" y="2816352"/>
            <a:ext cx="0" cy="1572768"/>
          </a:xfrm>
          <a:prstGeom prst="line">
            <a:avLst/>
          </a:prstGeom>
          <a:noFill/>
          <a:ln w="22860">
            <a:solidFill>
              <a:srgbClr val="536255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412480" y="3447288"/>
            <a:ext cx="274320" cy="0"/>
          </a:xfrm>
          <a:prstGeom prst="line">
            <a:avLst/>
          </a:prstGeom>
          <a:noFill/>
          <a:ln w="22860">
            <a:solidFill>
              <a:srgbClr val="536255"/>
            </a:solidFill>
            <a:prstDash val="dash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26880" y="4014216"/>
            <a:ext cx="0" cy="585216"/>
          </a:xfrm>
          <a:prstGeom prst="line">
            <a:avLst/>
          </a:prstGeom>
          <a:noFill/>
          <a:ln w="22860">
            <a:solidFill>
              <a:srgbClr val="536255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784080" y="5010912"/>
            <a:ext cx="274320" cy="0"/>
          </a:xfrm>
          <a:prstGeom prst="line">
            <a:avLst/>
          </a:prstGeom>
          <a:noFill/>
          <a:ln w="22860">
            <a:solidFill>
              <a:srgbClr val="536255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" y="2871216"/>
            <a:ext cx="1691640" cy="1161288"/>
          </a:xfrm>
          <a:prstGeom prst="rect">
            <a:avLst/>
          </a:prstGeom>
          <a:solidFill>
            <a:srgbClr val="E8F1E2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980944"/>
            <a:ext cx="1472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8368" y="363931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8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CERRADO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743200" y="2240280"/>
            <a:ext cx="2377440" cy="1161288"/>
          </a:xfrm>
          <a:prstGeom prst="rect">
            <a:avLst/>
          </a:prstGeom>
          <a:solidFill>
            <a:srgbClr val="E8F1E2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52928" y="2350008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 + I2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852928" y="300837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8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CERRADOS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577840" y="2240280"/>
            <a:ext cx="260604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687568" y="2350008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I3 + MVP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y sesión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687568" y="3008376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743200" y="3803904"/>
            <a:ext cx="237744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2852928" y="3913632"/>
            <a:ext cx="21579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hardware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punto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852928" y="457200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CURSO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5577840" y="3803904"/>
            <a:ext cx="260604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5687568" y="3913632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Prepruebas → P3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Fijar criterios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687568" y="4572000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686800" y="2871216"/>
            <a:ext cx="2953512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8796528" y="2980944"/>
            <a:ext cx="2734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controladas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+ físicas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8796528" y="3639312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0" y="4617720"/>
            <a:ext cx="1097280" cy="77724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8796528" y="4709160"/>
            <a:ext cx="8778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0058400" y="4617720"/>
            <a:ext cx="1581912" cy="777240"/>
          </a:xfrm>
          <a:prstGeom prst="rect">
            <a:avLst/>
          </a:prstGeom>
          <a:solidFill>
            <a:srgbClr val="F1F5ED"/>
          </a:solidFill>
          <a:ln w="12700">
            <a:solidFill>
              <a:srgbClr val="98AB93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0168128" y="4709160"/>
            <a:ext cx="13624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48640" y="576986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tipo PERT/CPM: dependencias generales; sin duraciones ni ruta crítica calculada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siguiente paso es completar el diseño y concretar condiciones de validación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Maestro v1.9.2, §9 · Propuesta, pp.6 y 9 · Propuestas para la reunión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181051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 I3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227832" y="181051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LecturaRFID–SesionOperacion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548640" y="2606040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84378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/ P2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227832" y="2843784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Concretar responsables, hardware y único punto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548640" y="3639312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87705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3227832" y="387705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protocolo y criterios tras prepruebas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548640" y="4672584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5084064"/>
            <a:ext cx="110916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avance de software verificable;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validez física y operativa aún debe demostrarse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· Decisiones: qué se aprobó y con qué alcance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Decisiones v1.9.2, p.2 · Consulta: 1–5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Culminar con un producto mínimo viable y piloto. Aprobada.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9631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496312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RFID pasivo como tecnología. Reemplazada por DEC-007.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35584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4670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3346704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estadística como soporte del diagnóstico. Aprobada.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9709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66160" y="4197096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Limitar el piloto a un punto. Reemplazada por DEC-008.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04748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66160" y="5047488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con AM solo con autorización. Aprobada.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· Decisiones: qué se aprobó y con qué alcance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Decisiones v1.9.2, p.2 · Consulta: 6–10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DEC-006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Conservar la propuesta aprobada como línea base externa. Aprobada.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9631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DEC-007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496312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Ratificar RFID UHF pasivo como tecnología principal. Aprobada.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35584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4670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DEC-008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3346704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Ratificar un único punto de control para el piloto. Aprobada.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9709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DEC-009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66160" y="4197096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primero con códigos EPC simulados e interfaz común. Aprobada.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04748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DEC-010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66160" y="5047488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 presupuesto de COP 43.724.342. Aprobada.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· Decisiones: qué se aprobó y con qué alcance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Decisiones v1.9.2, p.2 · Consulta: 11–15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DEC-011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Incluir sustituciones temporales como función indispensable. Aprobada.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9631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DEC-012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496312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Condicionar validación física; no extrapolar simulación. Aprobada.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35584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4670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DEC-013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3346704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a Diseño al cerrar requisitos; hardware en paralelo. Aprobada.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9709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DEC-014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66160" y="4197096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lectura, evento, verificación, sustitución y contingencia. Aprobada.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04748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DEC-015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66160" y="5047488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Adoptar modelo mínimo y preservar historial equipo–etiqueta. Aprobada.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· Decisiones: qué se aprobó y con qué alcance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Decisiones v1.9.2, p.2 · Consulta: 16–20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DEC-016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Fijar requisitos indispensables para Diseño y MVP. Aprobada.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9631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DEC-017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496312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Adoptar la interfaz común FuenteLecturasRFID. Aprobada.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35584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4670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DEC-018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3346704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requisitos suficientes (P0) y entrar a Diseño. Aprobada.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9709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DEC-019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66160" y="4197096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Excluir RC522 como lector UHF o evidencia física del proyecto. Aprobada.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04748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DEC-020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66160" y="5047488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Tratar informe P1 y checklist como soportes subordinados. Aprobada.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· Decisiones: qué se aprobó y con qué alcance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de Decisiones v1.9.2, p.2 · Consulta: 21–23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DEC-021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Cerrar hardware (P1) solo con EPC UHF físico reproducible y autorizado. Aprobada.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632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DEC-022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Java 21, Maven, JDBC, SQLite, Flyway y JUnit 5. Aprobada.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92277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4805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DEC-023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448056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Aceptar evidencia tardía AM/remodelación para el punto (P2), sin reabrir P0. Aprobada.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· Requisitos: qué debe cumplir el proyecto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Requisitos v1.9.2, pp.2–3 · Consulta: 1–5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AC-001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Académico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oficial aprobada.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Cerrado.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9631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AC-002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Académico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496312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 de 24 semanas.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Cerrado.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35584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4670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AC-003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Académico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3346704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 global vigente.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Cerrado.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9709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AC-004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Académico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66160" y="4197096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Desarrollar producto mínimo viable funcional.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Aprobado.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04748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AC-005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Académico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66160" y="5047488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piloto delimitado cuando existan condiciones.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Aprobado.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· Requisitos: qué debe cumplir el proyecto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Requisitos v1.9.2, pp.2–3 · Consulta: 6–10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RF-001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Asociar equipo/código institucional y etiqueta.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Implementado.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9631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RF-002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496312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Capturar y guardar lecturas; admitir simulación.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En desarrollo.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35584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4670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RF-003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3346704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fecha, punto, usuario/contexto y evento.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Aprobado.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9709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RF-004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66160" y="4197096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última lectura e historial por equipo.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Aprobado.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04748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RF-005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66160" y="5047488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equipos esperados y detectados.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Deseable · Aprobado.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· Requisitos: qué debe cumplir el proyecto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Requisitos v1.9.2, pp.2–3 · Consulta: 11–15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RF-006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contingencias manuales.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Deseable · Aprobado.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9631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RF-007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496312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y cerrar sustituciones temporales.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Aprobado.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35584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4670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TEC-001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3346704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lector, configuración y disponibilidad real.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En desarrollo.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9709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TEC-002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66160" y="4197096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Compartir interfaz entre simulador y lector real.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En desarrollo.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04748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DAT-001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66160" y="5047488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lecturas crudas y eventos operativos.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En desarrollo.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· Requisitos: qué debe cumplir el proyecto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Requisitos v1.9.2, pp.2–3 · Consulta: 16–20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DAT-002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origen simulado o físico de los datos.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En desarrollo.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9631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DAT-003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496312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Completar modelo mínimo de entidades del MVP.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En desarrollo.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35584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4670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VAL-001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3346704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lecturas correctas, omitidas y externas con hardware.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Aprobado.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9709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VAL-002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66160" y="4197096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Medir tiempo de verificación/lectura.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Deseable · Aprobado.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04748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VAL-003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66160" y="5047488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eventos duplicados almacenados.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Aprobado.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· Requisitos: qué debe cumplir el proyecto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Requisitos v1.9.2, pp.2–3 · Consulta: 21–25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VAL-004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metas tras prepruebas y antes del piloto.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Aprobado.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9631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VAL-005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496312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menos 10 repeticiones por escenario prioritario.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Aprobado.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35584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4670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VAL-006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3346704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Piloto: al menos 2 perfiles, 20 eventos y 3 sesiones.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Deseable · Aprobado.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9709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OPE-001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66160" y="4197096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afectar la operación asistencial.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Aprobado.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04748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OPE-002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66160" y="5047488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 punto, actores, servicios, permisos y reglas.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Aprobado.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Anexo · Requisitos: qué debe cumplir el proyecto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6144768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272784"/>
            <a:ext cx="9829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Requisitos v1.9.2, pp.2–3 · Consulta: 26–29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2760" y="625449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2000" cy="68580"/>
          </a:xfrm>
          <a:prstGeom prst="rect">
            <a:avLst/>
          </a:prstGeom>
          <a:solidFill>
            <a:srgbClr val="357A3E"/>
          </a:solidFill>
          <a:ln w="12700">
            <a:solidFill>
              <a:srgbClr val="357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537960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BIOINGENIERÍA · UNIVERSIDAD DE ANTIOQUIA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235440" y="6537960"/>
            <a:ext cx="2404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D5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ECO-001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Económico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164592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Estimar costos de implementación y escalamiento.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Deseable · Aprobado.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0891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ECO-002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Económico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270891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condicionado; desembolso personal $0.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Aprobado.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844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719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RSK-001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66160" y="377190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Documentar riesgos técnicos y operativos.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Deseable · Aprobado.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8640" y="4631436"/>
            <a:ext cx="11091672" cy="0"/>
          </a:xfrm>
          <a:prstGeom prst="line">
            <a:avLst/>
          </a:prstGeom>
          <a:noFill/>
          <a:ln w="22860">
            <a:solidFill>
              <a:srgbClr val="DCE6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83489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RSK-002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57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66160" y="4834890"/>
            <a:ext cx="8074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extrapolar simulación a desempeño físico RFID.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3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Indispensable · Aprobado.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Proyecto EMI · Bioingeniería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EMI · Avance al asesor</dc:title>
  <dc:subject>Seguimiento académico del Proyecto EMI</dc:subject>
  <dc:creator>Juan José Cortés Fajardo</dc:creator>
  <cp:lastModifiedBy>Juan José Cortés Fajardo</cp:lastModifiedBy>
  <cp:revision>1</cp:revision>
  <dcterms:created xsi:type="dcterms:W3CDTF">2026-09-11T01:08:51Z</dcterms:created>
  <dcterms:modified xsi:type="dcterms:W3CDTF">2026-09-11T01:08:51Z</dcterms:modified>
</cp:coreProperties>
</file>